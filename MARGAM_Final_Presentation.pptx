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7"/>
  </p:notesMasterIdLst>
  <p:sldIdLst>
    <p:sldId id="256" r:id="rId3"/>
    <p:sldId id="285" r:id="rId4"/>
    <p:sldId id="258" r:id="rId5"/>
    <p:sldId id="259" r:id="rId6"/>
    <p:sldId id="283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86" r:id="rId15"/>
    <p:sldId id="288" r:id="rId16"/>
    <p:sldId id="289" r:id="rId18"/>
    <p:sldId id="290" r:id="rId19"/>
    <p:sldId id="291" r:id="rId20"/>
    <p:sldId id="292" r:id="rId21"/>
    <p:sldId id="293" r:id="rId22"/>
    <p:sldId id="294" r:id="rId23"/>
    <p:sldId id="295" r:id="rId24"/>
    <p:sldId id="296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84" r:id="rId34"/>
    <p:sldId id="278" r:id="rId35"/>
    <p:sldId id="279" r:id="rId36"/>
    <p:sldId id="280" r:id="rId37"/>
    <p:sldId id="281" r:id="rId38"/>
    <p:sldId id="282" r:id="rId39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4" userDrawn="1">
          <p15:clr>
            <a:srgbClr val="A4A3A4"/>
          </p15:clr>
        </p15:guide>
        <p15:guide id="2" pos="285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35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14"/>
        <p:guide pos="285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5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Text 1"/>
          <p:cNvSpPr txBox="1"/>
          <p:nvPr/>
        </p:nvSpPr>
        <p:spPr>
          <a:xfrm>
            <a:off x="731520" y="640080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</a:rPr>
              <a:t>M C A   F I N A L   Y E A R   M I N I   P R O J E C T</a:t>
            </a:r>
            <a:endParaRPr lang="en-US" sz="1300" b="1" dirty="0">
              <a:solidFill>
                <a:schemeClr val="bg1"/>
              </a:solidFill>
            </a:endParaRPr>
          </a:p>
        </p:txBody>
      </p:sp>
      <p:sp>
        <p:nvSpPr>
          <p:cNvPr id="7" name="Text 2"/>
          <p:cNvSpPr txBox="1"/>
          <p:nvPr/>
        </p:nvSpPr>
        <p:spPr>
          <a:xfrm>
            <a:off x="731520" y="1234440"/>
            <a:ext cx="56692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chemeClr val="bg1"/>
                </a:solidFill>
                <a:latin typeface="Cambria" panose="02040503050406030204" charset="0"/>
                <a:ea typeface="+mj-lt"/>
                <a:cs typeface="Cambria" panose="02040503050406030204" charset="0"/>
              </a:rPr>
              <a:t>MARGAM</a:t>
            </a:r>
            <a:endParaRPr lang="en-US" sz="8000" dirty="0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8" name="Text 3"/>
          <p:cNvSpPr txBox="1"/>
          <p:nvPr/>
        </p:nvSpPr>
        <p:spPr>
          <a:xfrm>
            <a:off x="731520" y="24688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chemeClr val="bg2"/>
                </a:solidFill>
              </a:rPr>
              <a:t>Maternal Assistance for Rural Guidance And Monitoring</a:t>
            </a:r>
            <a:endParaRPr lang="en-US" sz="2200" dirty="0"/>
          </a:p>
        </p:txBody>
      </p:sp>
      <p:sp>
        <p:nvSpPr>
          <p:cNvPr id="9" name="Text 4"/>
          <p:cNvSpPr txBox="1"/>
          <p:nvPr/>
        </p:nvSpPr>
        <p:spPr>
          <a:xfrm>
            <a:off x="731520" y="36118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Presented by</a:t>
            </a:r>
            <a:endParaRPr lang="en-US" sz="1300" dirty="0"/>
          </a:p>
        </p:txBody>
      </p:sp>
      <p:sp>
        <p:nvSpPr>
          <p:cNvPr id="10" name="Text 5"/>
          <p:cNvSpPr txBox="1"/>
          <p:nvPr/>
        </p:nvSpPr>
        <p:spPr>
          <a:xfrm>
            <a:off x="731520" y="393192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</a:rPr>
              <a:t>Melbin K Madhu</a:t>
            </a:r>
            <a:endParaRPr lang="en-US" sz="2800" dirty="0"/>
          </a:p>
        </p:txBody>
      </p:sp>
      <p:sp>
        <p:nvSpPr>
          <p:cNvPr id="11" name="Text 6"/>
          <p:cNvSpPr txBox="1"/>
          <p:nvPr/>
        </p:nvSpPr>
        <p:spPr>
          <a:xfrm>
            <a:off x="731520" y="443484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Register No. MLM25MCA-2040  •  S3 MCA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731520" y="4892040"/>
            <a:ext cx="54864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Department of Computer Applications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Mangalam College of Engineering, Ettumanoor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APJ Abdul Kalam Technological University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731520" y="5852160"/>
            <a:ext cx="548640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Guide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Ms. Kavitha S  •  Assistant Professor</a:t>
            </a:r>
            <a:endParaRPr lang="en-US" sz="1500" dirty="0"/>
          </a:p>
        </p:txBody>
      </p:sp>
      <p:grpSp>
        <p:nvGrpSpPr>
          <p:cNvPr id="19" name="Group 18"/>
          <p:cNvGrpSpPr/>
          <p:nvPr/>
        </p:nvGrpSpPr>
        <p:grpSpPr>
          <a:xfrm>
            <a:off x="7014210" y="2162810"/>
            <a:ext cx="3060065" cy="2971800"/>
            <a:chOff x="10153" y="1512"/>
            <a:chExt cx="7776" cy="7776"/>
          </a:xfrm>
        </p:grpSpPr>
        <p:sp>
          <p:nvSpPr>
            <p:cNvPr id="16" name="Cover logo disc"/>
            <p:cNvSpPr/>
            <p:nvPr/>
          </p:nvSpPr>
          <p:spPr>
            <a:xfrm>
              <a:off x="10153" y="1512"/>
              <a:ext cx="7776" cy="7776"/>
            </a:xfrm>
            <a:prstGeom prst="ellipse">
              <a:avLst/>
            </a:prstGeom>
            <a:solidFill>
              <a:schemeClr val="bg2"/>
            </a:solidFill>
          </p:spPr>
        </p:sp>
        <p:pic>
          <p:nvPicPr>
            <p:cNvPr id="17" name="MARGAM logo" descr="MARGAM logo: a mother holding a baby in cupped hands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1593" y="2664"/>
              <a:ext cx="4896" cy="5630"/>
            </a:xfrm>
            <a:prstGeom prst="rect">
              <a:avLst/>
            </a:prstGeom>
          </p:spPr>
        </p:pic>
      </p:grpSp>
      <p:sp>
        <p:nvSpPr>
          <p:cNvPr id="18" name="Text 9"/>
          <p:cNvSpPr txBox="1"/>
          <p:nvPr/>
        </p:nvSpPr>
        <p:spPr>
          <a:xfrm>
            <a:off x="9692640" y="617220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dirty="0">
                <a:solidFill>
                  <a:schemeClr val="accent6"/>
                </a:solidFill>
              </a:rPr>
              <a:t>2026 – 2027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E07E5F"/>
                </a:solidFill>
                <a:latin typeface="Aptos"/>
              </a:rPr>
              <a:t>INTRODUCTION</a:t>
            </a:r>
            <a:endParaRPr sz="1000" b="1" i="0">
              <a:solidFill>
                <a:srgbClr val="E07E5F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914400" cy="50292"/>
          </a:xfrm>
          <a:prstGeom prst="rect">
            <a:avLst/>
          </a:prstGeom>
          <a:solidFill>
            <a:srgbClr val="E07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329184"/>
            <a:ext cx="5029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5C6865"/>
                </a:solidFill>
                <a:latin typeface="Aptos"/>
              </a:rPr>
              <a:t>02</a:t>
            </a:r>
            <a:endParaRPr sz="1000" b="1" i="0">
              <a:solidFill>
                <a:srgbClr val="5C6865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6583680" cy="7772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163732"/>
                </a:solidFill>
                <a:latin typeface="Aptos"/>
              </a:rPr>
              <a:t>MARGAM is a role-based web application designed to bring key maternal and child healthcare activities into one coordinated digital workflow.</a:t>
            </a:r>
            <a:endParaRPr sz="1800" b="0" i="0">
              <a:solidFill>
                <a:srgbClr val="163732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85800" y="2788920"/>
            <a:ext cx="3429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2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50392" y="2953512"/>
            <a:ext cx="438912" cy="438912"/>
          </a:xfrm>
          <a:prstGeom prst="ellipse">
            <a:avLst/>
          </a:prstGeom>
          <a:solidFill>
            <a:srgbClr val="DC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2980944"/>
            <a:ext cx="438912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0C5B53"/>
                </a:solidFill>
                <a:latin typeface="Aptos"/>
              </a:rPr>
              <a:t>01</a:t>
            </a:r>
            <a:endParaRPr sz="1100" b="1" i="0">
              <a:solidFill>
                <a:srgbClr val="0C5B53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399032" y="2953512"/>
            <a:ext cx="2551176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0C5B53"/>
                </a:solidFill>
                <a:latin typeface="Aptos"/>
              </a:rPr>
              <a:t>Centralized records</a:t>
            </a:r>
            <a:endParaRPr sz="1600" b="1" i="0">
              <a:solidFill>
                <a:srgbClr val="0C5B53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399032" y="3401568"/>
            <a:ext cx="2551176" cy="1399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232826"/>
                </a:solidFill>
                <a:latin typeface="Aptos"/>
              </a:rPr>
              <a:t>Mother, baby, growth, vaccination and appointment information is managed through role-specific modules.</a:t>
            </a:r>
            <a:endParaRPr sz="1250" b="0" i="0">
              <a:solidFill>
                <a:srgbClr val="232826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370832" y="2788920"/>
            <a:ext cx="3429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2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5424" y="2953512"/>
            <a:ext cx="438912" cy="438912"/>
          </a:xfrm>
          <a:prstGeom prst="ellipse">
            <a:avLst/>
          </a:prstGeom>
          <a:solidFill>
            <a:srgbClr val="DC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5424" y="2980944"/>
            <a:ext cx="438912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0C5B53"/>
                </a:solidFill>
                <a:latin typeface="Aptos"/>
              </a:rPr>
              <a:t>02</a:t>
            </a:r>
            <a:endParaRPr sz="1100" b="1" i="0">
              <a:solidFill>
                <a:srgbClr val="0C5B53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084064" y="2953512"/>
            <a:ext cx="2551176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0C5B53"/>
                </a:solidFill>
                <a:latin typeface="Aptos"/>
              </a:rPr>
              <a:t>Timely follow-up</a:t>
            </a:r>
            <a:endParaRPr sz="1600" b="1" i="0">
              <a:solidFill>
                <a:srgbClr val="0C5B53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084064" y="3401568"/>
            <a:ext cx="2551176" cy="1399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232826"/>
                </a:solidFill>
                <a:latin typeface="Aptos"/>
              </a:rPr>
              <a:t>Vaccination schedules, appointment status and notifications support ongoing care.</a:t>
            </a:r>
            <a:endParaRPr sz="1250" b="0" i="0">
              <a:solidFill>
                <a:srgbClr val="232826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046720" y="2788920"/>
            <a:ext cx="33832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2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1312" y="2953512"/>
            <a:ext cx="438912" cy="438912"/>
          </a:xfrm>
          <a:prstGeom prst="ellipse">
            <a:avLst/>
          </a:prstGeom>
          <a:solidFill>
            <a:srgbClr val="DC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1312" y="2980944"/>
            <a:ext cx="438912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0C5B53"/>
                </a:solidFill>
                <a:latin typeface="Aptos"/>
              </a:rPr>
              <a:t>03</a:t>
            </a:r>
            <a:endParaRPr sz="1100" b="1" i="0">
              <a:solidFill>
                <a:srgbClr val="0C5B53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759952" y="2953512"/>
            <a:ext cx="2505456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0C5B53"/>
                </a:solidFill>
                <a:latin typeface="Aptos"/>
              </a:rPr>
              <a:t>Monitoring &amp; reporting</a:t>
            </a:r>
            <a:endParaRPr sz="1600" b="1" i="0">
              <a:solidFill>
                <a:srgbClr val="0C5B53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759952" y="3401568"/>
            <a:ext cx="2505456" cy="1399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232826"/>
                </a:solidFill>
                <a:latin typeface="Aptos"/>
              </a:rPr>
              <a:t>Government dashboards and reports provide an overview of healthcare activity.</a:t>
            </a:r>
            <a:endParaRPr sz="1250" b="0" i="0">
              <a:solidFill>
                <a:srgbClr val="232826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85800" y="5486400"/>
            <a:ext cx="1060704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5C6865"/>
                </a:solidFill>
                <a:latin typeface="Aptos"/>
              </a:rPr>
              <a:t>The project focuses on improving coordination and accessibility of information rather than replacing clinical judgement.</a:t>
            </a:r>
            <a:endParaRPr sz="1400" b="0" i="1">
              <a:solidFill>
                <a:srgbClr val="5C6865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94360" y="6565392"/>
            <a:ext cx="43891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50" b="1" i="0">
                <a:solidFill>
                  <a:srgbClr val="5C6865"/>
                </a:solidFill>
                <a:latin typeface="Aptos"/>
              </a:rPr>
              <a:t>MARGAM • MCA FINAL YEAR MINI PROJECT</a:t>
            </a:r>
            <a:endParaRPr sz="750" b="1" i="0">
              <a:solidFill>
                <a:srgbClr val="5C6865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1064240" y="6537960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5C6865"/>
                </a:solidFill>
                <a:latin typeface="Aptos"/>
              </a:rPr>
              <a:t>2</a:t>
            </a:r>
            <a:endParaRPr sz="800" b="1" i="0">
              <a:solidFill>
                <a:srgbClr val="5C6865"/>
              </a:solidFill>
              <a:latin typeface="Aptos"/>
            </a:endParaRPr>
          </a:p>
        </p:txBody>
      </p:sp>
      <p:sp>
        <p:nvSpPr>
          <p:cNvPr id="30" name="TextBox 2"/>
          <p:cNvSpPr txBox="1"/>
          <p:nvPr/>
        </p:nvSpPr>
        <p:spPr>
          <a:xfrm>
            <a:off x="658368" y="640080"/>
            <a:ext cx="1014984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0B5B52"/>
                </a:solidFill>
                <a:latin typeface="Georgia" panose="02040502050405020303"/>
              </a:rPr>
              <a:t>Introduction</a:t>
            </a:r>
            <a:endParaRPr sz="2700" b="1" i="0">
              <a:solidFill>
                <a:srgbClr val="0B5B52"/>
              </a:solidFill>
              <a:latin typeface="Georgia" panose="02040502050405020303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8261350" y="1267460"/>
            <a:ext cx="2810510" cy="1053465"/>
          </a:xfrm>
          <a:prstGeom prst="roundRect">
            <a:avLst/>
          </a:prstGeom>
          <a:solidFill>
            <a:srgbClr val="E5F1ED"/>
          </a:solidFill>
          <a:ln w="8890">
            <a:solidFill>
              <a:srgbClr val="D2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9"/>
          <p:cNvSpPr txBox="1"/>
          <p:nvPr/>
        </p:nvSpPr>
        <p:spPr>
          <a:xfrm>
            <a:off x="8855710" y="1407795"/>
            <a:ext cx="2052955" cy="25844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50" b="1" i="0">
                <a:solidFill>
                  <a:srgbClr val="0B5B52"/>
                </a:solidFill>
                <a:latin typeface="Aptos"/>
              </a:rPr>
              <a:t>Four stakeholders</a:t>
            </a:r>
            <a:endParaRPr sz="145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35" name="TextBox 10"/>
          <p:cNvSpPr txBox="1"/>
          <p:nvPr/>
        </p:nvSpPr>
        <p:spPr>
          <a:xfrm>
            <a:off x="8855710" y="1767205"/>
            <a:ext cx="2052955" cy="38290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30" b="0" i="0">
                <a:solidFill>
                  <a:srgbClr val="2D3734"/>
                </a:solidFill>
                <a:latin typeface="Aptos"/>
              </a:rPr>
              <a:t>Government • ASHA Worker • Doctor • Mother</a:t>
            </a:r>
            <a:endParaRPr sz="1130" b="0" i="0">
              <a:solidFill>
                <a:srgbClr val="2D373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31089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E27B5B"/>
                </a:solidFill>
                <a:latin typeface="Aptos"/>
              </a:rPr>
              <a:t>02  •  OVERVIEW</a:t>
            </a:r>
            <a:endParaRPr sz="950" b="1" i="0">
              <a:solidFill>
                <a:srgbClr val="E27B5B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14984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0B5B52"/>
                </a:solidFill>
                <a:latin typeface="Georgia" panose="02040502050405020303"/>
              </a:rPr>
              <a:t>Abstract</a:t>
            </a:r>
            <a:endParaRPr sz="2700" b="1" i="0">
              <a:solidFill>
                <a:srgbClr val="0B5B52"/>
              </a:solidFill>
              <a:latin typeface="Georgia" panose="020405020504050203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64240" y="347472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50" b="1" i="0">
                <a:solidFill>
                  <a:srgbClr val="646F6B"/>
                </a:solidFill>
                <a:latin typeface="Aptos"/>
              </a:rPr>
              <a:t>03</a:t>
            </a:r>
            <a:endParaRPr sz="950" b="1" i="0">
              <a:solidFill>
                <a:srgbClr val="646F6B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8368" y="1261872"/>
            <a:ext cx="658368" cy="41148"/>
          </a:xfrm>
          <a:prstGeom prst="rect">
            <a:avLst/>
          </a:prstGeom>
          <a:solidFill>
            <a:srgbClr val="E27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72768"/>
            <a:ext cx="6995160" cy="33375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47088"/>
            <a:ext cx="6629400" cy="2560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2D3734"/>
                </a:solidFill>
                <a:latin typeface="Aptos"/>
              </a:rPr>
              <a:t>MARGAM is a Django and Bootstrap 5 web application developed to organize maternal and child healthcare activities through a centralized platform. It provides role-based access for Government officials, ASHA workers, Doctors and Mothers. The implemented system supports maternal and baby records, vaccination scheduling and tracking, doctor appointment management, notifications, health information and government-level monitoring.</a:t>
            </a:r>
            <a:endParaRPr sz="1700" b="0" i="0">
              <a:solidFill>
                <a:srgbClr val="2D3734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001000" y="1572768"/>
            <a:ext cx="338328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165592" y="1737360"/>
            <a:ext cx="393192" cy="393192"/>
          </a:xfrm>
          <a:prstGeom prst="ellipse">
            <a:avLst/>
          </a:prstGeom>
          <a:solidFill>
            <a:srgbClr val="D3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65592" y="1833372"/>
            <a:ext cx="393192" cy="128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50" b="1" i="0">
                <a:solidFill>
                  <a:srgbClr val="0B5B52"/>
                </a:solidFill>
                <a:latin typeface="Aptos"/>
              </a:rPr>
              <a:t>P</a:t>
            </a:r>
            <a:endParaRPr sz="85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668512" y="1737360"/>
            <a:ext cx="2532888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50" b="1" i="0">
                <a:solidFill>
                  <a:srgbClr val="0B5B52"/>
                </a:solidFill>
                <a:latin typeface="Aptos"/>
              </a:rPr>
              <a:t>Problem</a:t>
            </a:r>
            <a:endParaRPr sz="145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668512" y="2157984"/>
            <a:ext cx="2532888" cy="4297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30" b="0" i="0">
                <a:solidFill>
                  <a:srgbClr val="2D3734"/>
                </a:solidFill>
                <a:latin typeface="Aptos"/>
              </a:rPr>
              <a:t>Fragmented records and follow-up processes.</a:t>
            </a:r>
            <a:endParaRPr sz="1130" b="0" i="0">
              <a:solidFill>
                <a:srgbClr val="2D3734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001000" y="2834640"/>
            <a:ext cx="338328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165592" y="2999232"/>
            <a:ext cx="393192" cy="393192"/>
          </a:xfrm>
          <a:prstGeom prst="ellipse">
            <a:avLst/>
          </a:prstGeom>
          <a:solidFill>
            <a:srgbClr val="D3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65592" y="3095244"/>
            <a:ext cx="393192" cy="128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50" b="1" i="0">
                <a:solidFill>
                  <a:srgbClr val="0B5B52"/>
                </a:solidFill>
                <a:latin typeface="Aptos"/>
              </a:rPr>
              <a:t>S</a:t>
            </a:r>
            <a:endParaRPr sz="85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668512" y="2999232"/>
            <a:ext cx="2532888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50" b="1" i="0">
                <a:solidFill>
                  <a:srgbClr val="0B5B52"/>
                </a:solidFill>
                <a:latin typeface="Aptos"/>
              </a:rPr>
              <a:t>Solution</a:t>
            </a:r>
            <a:endParaRPr sz="145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668512" y="3419856"/>
            <a:ext cx="2532888" cy="4297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30" b="0" i="0">
                <a:solidFill>
                  <a:srgbClr val="2D3734"/>
                </a:solidFill>
                <a:latin typeface="Aptos"/>
              </a:rPr>
              <a:t>One role-aware digital workflow.</a:t>
            </a:r>
            <a:endParaRPr sz="1130" b="0" i="0">
              <a:solidFill>
                <a:srgbClr val="2D3734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001000" y="4096512"/>
            <a:ext cx="338328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165592" y="4261104"/>
            <a:ext cx="393192" cy="393192"/>
          </a:xfrm>
          <a:prstGeom prst="ellipse">
            <a:avLst/>
          </a:prstGeom>
          <a:solidFill>
            <a:srgbClr val="D3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65592" y="4357116"/>
            <a:ext cx="393192" cy="128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50" b="1" i="0">
                <a:solidFill>
                  <a:srgbClr val="0B5B52"/>
                </a:solidFill>
                <a:latin typeface="Aptos"/>
              </a:rPr>
              <a:t>O</a:t>
            </a:r>
            <a:endParaRPr sz="85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668512" y="4261104"/>
            <a:ext cx="2532888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50" b="1" i="0">
                <a:solidFill>
                  <a:srgbClr val="0B5B52"/>
                </a:solidFill>
                <a:latin typeface="Aptos"/>
              </a:rPr>
              <a:t>Outcome</a:t>
            </a:r>
            <a:endParaRPr sz="145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668512" y="4681728"/>
            <a:ext cx="2532888" cy="4297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30" b="0" i="0">
                <a:solidFill>
                  <a:srgbClr val="2D3734"/>
                </a:solidFill>
                <a:latin typeface="Aptos"/>
              </a:rPr>
              <a:t>Structured information and better visibility.</a:t>
            </a:r>
            <a:endParaRPr sz="1130" b="0" i="0">
              <a:solidFill>
                <a:srgbClr val="2D3734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96112" y="5230368"/>
            <a:ext cx="1965960" cy="310896"/>
          </a:xfrm>
          <a:prstGeom prst="roundRect">
            <a:avLst/>
          </a:prstGeom>
          <a:solidFill>
            <a:srgbClr val="E5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5289804"/>
            <a:ext cx="19659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80" b="1" i="0">
                <a:solidFill>
                  <a:srgbClr val="0B5B52"/>
                </a:solidFill>
                <a:latin typeface="Aptos"/>
              </a:rPr>
              <a:t>DJANGO + BOOTSTRAP 5</a:t>
            </a:r>
            <a:endParaRPr sz="88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2999232" y="5230368"/>
            <a:ext cx="960120" cy="310896"/>
          </a:xfrm>
          <a:prstGeom prst="roundRect">
            <a:avLst/>
          </a:prstGeom>
          <a:solidFill>
            <a:srgbClr val="E5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99232" y="5289804"/>
            <a:ext cx="9601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80" b="1" i="0">
                <a:solidFill>
                  <a:srgbClr val="0B5B52"/>
                </a:solidFill>
                <a:latin typeface="Aptos"/>
              </a:rPr>
              <a:t>SQLITE</a:t>
            </a:r>
            <a:endParaRPr sz="88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096512" y="5230368"/>
            <a:ext cx="1078992" cy="310896"/>
          </a:xfrm>
          <a:prstGeom prst="roundRect">
            <a:avLst/>
          </a:prstGeom>
          <a:solidFill>
            <a:srgbClr val="E5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96512" y="5289804"/>
            <a:ext cx="107899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80" b="1" i="0">
                <a:solidFill>
                  <a:srgbClr val="0B5B52"/>
                </a:solidFill>
                <a:latin typeface="Aptos"/>
              </a:rPr>
              <a:t>CHART.JS</a:t>
            </a:r>
            <a:endParaRPr sz="88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58368" y="6537960"/>
            <a:ext cx="457200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50" b="1" i="0">
                <a:solidFill>
                  <a:srgbClr val="646F6B"/>
                </a:solidFill>
                <a:latin typeface="Aptos"/>
              </a:rPr>
              <a:t>MARGAM  •  MCA FINAL YEAR MINI PROJECT</a:t>
            </a:r>
            <a:endParaRPr sz="750" b="1" i="0">
              <a:solidFill>
                <a:srgbClr val="646F6B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1064240" y="6519672"/>
            <a:ext cx="4572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646F6B"/>
                </a:solidFill>
                <a:latin typeface="Aptos"/>
              </a:rPr>
              <a:t>3</a:t>
            </a:r>
            <a:endParaRPr sz="800" b="1" i="0">
              <a:solidFill>
                <a:srgbClr val="646F6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5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31089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BEDDD5"/>
                </a:solidFill>
                <a:latin typeface="Aptos"/>
              </a:rPr>
              <a:t>03  •  THE CHALLENGE</a:t>
            </a:r>
            <a:endParaRPr sz="950" b="1" i="0">
              <a:solidFill>
                <a:srgbClr val="BEDDD5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14984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Georgia" panose="02040502050405020303"/>
              </a:rPr>
              <a:t>Problem Definition</a:t>
            </a:r>
            <a:endParaRPr sz="2700" b="1" i="0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64240" y="347472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50" b="1" i="0">
                <a:solidFill>
                  <a:srgbClr val="BEDDD5"/>
                </a:solidFill>
                <a:latin typeface="Aptos"/>
              </a:rPr>
              <a:t>04</a:t>
            </a:r>
            <a:endParaRPr sz="950" b="1" i="0">
              <a:solidFill>
                <a:srgbClr val="BEDDD5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8368" y="1261872"/>
            <a:ext cx="658368" cy="41148"/>
          </a:xfrm>
          <a:prstGeom prst="rect">
            <a:avLst/>
          </a:prstGeom>
          <a:solidFill>
            <a:srgbClr val="E27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572768"/>
            <a:ext cx="10698480" cy="11430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Georgia" panose="02040502050405020303"/>
              </a:rPr>
              <a:t>How can maternal and child healthcare information be coordinated digitally without relying on fragmented records and manual follow-up?</a:t>
            </a:r>
            <a:endParaRPr sz="2900" b="1" i="0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3154680"/>
            <a:ext cx="5074920" cy="1051560"/>
          </a:xfrm>
          <a:prstGeom prst="roundRect">
            <a:avLst/>
          </a:prstGeom>
          <a:solidFill>
            <a:srgbClr val="194640"/>
          </a:solidFill>
          <a:ln w="8890">
            <a:solidFill>
              <a:srgbClr val="315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3319272"/>
            <a:ext cx="15087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DAEFE8"/>
                </a:solidFill>
                <a:latin typeface="Aptos"/>
              </a:rPr>
              <a:t>Records</a:t>
            </a:r>
            <a:endParaRPr sz="1300" b="1" i="0">
              <a:solidFill>
                <a:srgbClr val="DAEFE8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32688" y="3630168"/>
            <a:ext cx="461772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30" b="0" i="0">
                <a:solidFill>
                  <a:srgbClr val="C4DED7"/>
                </a:solidFill>
                <a:latin typeface="Aptos"/>
              </a:rPr>
              <a:t>Healthcare information can be scattered across separate records.</a:t>
            </a:r>
            <a:endParaRPr sz="1130" b="0" i="0">
              <a:solidFill>
                <a:srgbClr val="C4DED7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63640" y="3154680"/>
            <a:ext cx="5074920" cy="1051560"/>
          </a:xfrm>
          <a:prstGeom prst="roundRect">
            <a:avLst/>
          </a:prstGeom>
          <a:solidFill>
            <a:srgbClr val="194640"/>
          </a:solidFill>
          <a:ln w="8890">
            <a:solidFill>
              <a:srgbClr val="315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7" y="3319272"/>
            <a:ext cx="15087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DAEFE8"/>
                </a:solidFill>
                <a:latin typeface="Aptos"/>
              </a:rPr>
              <a:t>Vaccination</a:t>
            </a:r>
            <a:endParaRPr sz="1300" b="1" i="0">
              <a:solidFill>
                <a:srgbClr val="DAEFE8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64807" y="3630168"/>
            <a:ext cx="461772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30" b="0" i="0">
                <a:solidFill>
                  <a:srgbClr val="C4DED7"/>
                </a:solidFill>
                <a:latin typeface="Aptos"/>
              </a:rPr>
              <a:t>Paper-based schedules make follow-up harder to manage.</a:t>
            </a:r>
            <a:endParaRPr sz="1130" b="0" i="0">
              <a:solidFill>
                <a:srgbClr val="C4DED7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31520" y="4572000"/>
            <a:ext cx="5074920" cy="1051560"/>
          </a:xfrm>
          <a:prstGeom prst="roundRect">
            <a:avLst/>
          </a:prstGeom>
          <a:solidFill>
            <a:srgbClr val="194640"/>
          </a:solidFill>
          <a:ln w="8890">
            <a:solidFill>
              <a:srgbClr val="315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736592"/>
            <a:ext cx="15087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DAEFE8"/>
                </a:solidFill>
                <a:latin typeface="Aptos"/>
              </a:rPr>
              <a:t>Coordination</a:t>
            </a:r>
            <a:endParaRPr sz="1300" b="1" i="0">
              <a:solidFill>
                <a:srgbClr val="DAEFE8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32688" y="5047488"/>
            <a:ext cx="461772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30" b="0" i="0">
                <a:solidFill>
                  <a:srgbClr val="C4DED7"/>
                </a:solidFill>
                <a:latin typeface="Aptos"/>
              </a:rPr>
              <a:t>Government, ASHA workers, Doctors and Mothers need a common workflow.</a:t>
            </a:r>
            <a:endParaRPr sz="1130" b="0" i="0">
              <a:solidFill>
                <a:srgbClr val="C4DED7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263640" y="4572000"/>
            <a:ext cx="5074920" cy="1051560"/>
          </a:xfrm>
          <a:prstGeom prst="roundRect">
            <a:avLst/>
          </a:prstGeom>
          <a:solidFill>
            <a:srgbClr val="194640"/>
          </a:solidFill>
          <a:ln w="8890">
            <a:solidFill>
              <a:srgbClr val="315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4807" y="4736592"/>
            <a:ext cx="15087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DAEFE8"/>
                </a:solidFill>
                <a:latin typeface="Aptos"/>
              </a:rPr>
              <a:t>Monitoring</a:t>
            </a:r>
            <a:endParaRPr sz="1300" b="1" i="0">
              <a:solidFill>
                <a:srgbClr val="DAEFE8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64807" y="5047488"/>
            <a:ext cx="461772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30" b="0" i="0">
                <a:solidFill>
                  <a:srgbClr val="C4DED7"/>
                </a:solidFill>
                <a:latin typeface="Aptos"/>
              </a:rPr>
              <a:t>Aggregating information for monitoring and reporting can be time-consuming.</a:t>
            </a:r>
            <a:endParaRPr sz="1130" b="0" i="0">
              <a:solidFill>
                <a:srgbClr val="C4DED7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58368" y="6537960"/>
            <a:ext cx="457200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50" b="1" i="0">
                <a:solidFill>
                  <a:srgbClr val="BEDDD5"/>
                </a:solidFill>
                <a:latin typeface="Aptos"/>
              </a:rPr>
              <a:t>MARGAM  •  MCA FINAL YEAR MINI PROJECT</a:t>
            </a:r>
            <a:endParaRPr sz="750" b="1" i="0">
              <a:solidFill>
                <a:srgbClr val="BEDDD5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064240" y="6519672"/>
            <a:ext cx="4572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BEDDD5"/>
                </a:solidFill>
                <a:latin typeface="Aptos"/>
              </a:rPr>
              <a:t>4</a:t>
            </a:r>
            <a:endParaRPr sz="800" b="1" i="0">
              <a:solidFill>
                <a:srgbClr val="BEDDD5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E07E5F"/>
                </a:solidFill>
                <a:latin typeface="Aptos"/>
              </a:rPr>
              <a:t>GOALS</a:t>
            </a:r>
            <a:endParaRPr sz="1000" b="1" i="0">
              <a:solidFill>
                <a:srgbClr val="E07E5F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9848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0C5B53"/>
                </a:solidFill>
                <a:latin typeface="Georgia" panose="02040502050405020303"/>
              </a:rPr>
              <a:t>Objectives</a:t>
            </a:r>
            <a:endParaRPr sz="2700" b="1" i="0">
              <a:solidFill>
                <a:srgbClr val="0C5B53"/>
              </a:solidFill>
              <a:latin typeface="Georgia" panose="020405020504050203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914400" cy="50292"/>
          </a:xfrm>
          <a:prstGeom prst="rect">
            <a:avLst/>
          </a:prstGeom>
          <a:solidFill>
            <a:srgbClr val="E07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329184"/>
            <a:ext cx="5029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5C6865"/>
                </a:solidFill>
                <a:latin typeface="Aptos"/>
              </a:rPr>
              <a:t>05</a:t>
            </a:r>
            <a:endParaRPr sz="1000" b="1" i="0">
              <a:solidFill>
                <a:srgbClr val="5C6865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38328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2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0392" y="1764792"/>
            <a:ext cx="438912" cy="438912"/>
          </a:xfrm>
          <a:prstGeom prst="ellipse">
            <a:avLst/>
          </a:prstGeom>
          <a:solidFill>
            <a:srgbClr val="DC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792224"/>
            <a:ext cx="438912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0C5B53"/>
                </a:solidFill>
                <a:latin typeface="Aptos"/>
              </a:rPr>
              <a:t>01</a:t>
            </a:r>
            <a:endParaRPr sz="1100" b="1" i="0">
              <a:solidFill>
                <a:srgbClr val="0C5B53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99032" y="1764792"/>
            <a:ext cx="2505456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0C5B53"/>
                </a:solidFill>
                <a:latin typeface="Aptos"/>
              </a:rPr>
              <a:t>Role-based access</a:t>
            </a:r>
            <a:endParaRPr sz="1600" b="1" i="0">
              <a:solidFill>
                <a:srgbClr val="0C5B53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99032" y="2212848"/>
            <a:ext cx="2505456" cy="103327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20" b="0" i="0">
                <a:solidFill>
                  <a:srgbClr val="232826"/>
                </a:solidFill>
                <a:latin typeface="Aptos"/>
              </a:rPr>
              <a:t>Dedicated portals for Government, ASHA Worker, Doctor and Mother.</a:t>
            </a:r>
            <a:endParaRPr sz="1220" b="0" i="0">
              <a:solidFill>
                <a:srgbClr val="232826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389120" y="1600200"/>
            <a:ext cx="338328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2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53712" y="1764792"/>
            <a:ext cx="438912" cy="438912"/>
          </a:xfrm>
          <a:prstGeom prst="ellipse">
            <a:avLst/>
          </a:prstGeom>
          <a:solidFill>
            <a:srgbClr val="DC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792224"/>
            <a:ext cx="438912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0C5B53"/>
                </a:solidFill>
                <a:latin typeface="Aptos"/>
              </a:rPr>
              <a:t>02</a:t>
            </a:r>
            <a:endParaRPr sz="1100" b="1" i="0">
              <a:solidFill>
                <a:srgbClr val="0C5B53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102352" y="1764792"/>
            <a:ext cx="2505456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0C5B53"/>
                </a:solidFill>
                <a:latin typeface="Aptos"/>
              </a:rPr>
              <a:t>Mother &amp; baby records</a:t>
            </a:r>
            <a:endParaRPr sz="1600" b="1" i="0">
              <a:solidFill>
                <a:srgbClr val="0C5B53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102352" y="2212848"/>
            <a:ext cx="2505456" cy="103327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20" b="0" i="0">
                <a:solidFill>
                  <a:srgbClr val="232826"/>
                </a:solidFill>
                <a:latin typeface="Aptos"/>
              </a:rPr>
              <a:t>Maintain structured maternal, baby and health information.</a:t>
            </a:r>
            <a:endParaRPr sz="1220" b="0" i="0">
              <a:solidFill>
                <a:srgbClr val="232826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092440" y="1600200"/>
            <a:ext cx="338328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2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57031" y="1764792"/>
            <a:ext cx="438912" cy="438912"/>
          </a:xfrm>
          <a:prstGeom prst="ellipse">
            <a:avLst/>
          </a:prstGeom>
          <a:solidFill>
            <a:srgbClr val="DC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1" y="1792224"/>
            <a:ext cx="438912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0C5B53"/>
                </a:solidFill>
                <a:latin typeface="Aptos"/>
              </a:rPr>
              <a:t>03</a:t>
            </a:r>
            <a:endParaRPr sz="1100" b="1" i="0">
              <a:solidFill>
                <a:srgbClr val="0C5B53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805672" y="1764792"/>
            <a:ext cx="2505456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0C5B53"/>
                </a:solidFill>
                <a:latin typeface="Aptos"/>
              </a:rPr>
              <a:t>Vaccination management</a:t>
            </a:r>
            <a:endParaRPr sz="1600" b="1" i="0">
              <a:solidFill>
                <a:srgbClr val="0C5B53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805672" y="2212848"/>
            <a:ext cx="2505456" cy="103327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20" b="0" i="0">
                <a:solidFill>
                  <a:srgbClr val="232826"/>
                </a:solidFill>
                <a:latin typeface="Aptos"/>
              </a:rPr>
              <a:t>Define schedules, generate due records and track vaccination status.</a:t>
            </a:r>
            <a:endParaRPr sz="1220" b="0" i="0">
              <a:solidFill>
                <a:srgbClr val="232826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85800" y="3749039"/>
            <a:ext cx="338328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2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50392" y="3913631"/>
            <a:ext cx="438912" cy="438912"/>
          </a:xfrm>
          <a:prstGeom prst="ellipse">
            <a:avLst/>
          </a:prstGeom>
          <a:solidFill>
            <a:srgbClr val="DC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3941063"/>
            <a:ext cx="438912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0C5B53"/>
                </a:solidFill>
                <a:latin typeface="Aptos"/>
              </a:rPr>
              <a:t>04</a:t>
            </a:r>
            <a:endParaRPr sz="1100" b="1" i="0">
              <a:solidFill>
                <a:srgbClr val="0C5B53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399032" y="3913631"/>
            <a:ext cx="2505456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0C5B53"/>
                </a:solidFill>
                <a:latin typeface="Aptos"/>
              </a:rPr>
              <a:t>Appointment workflow</a:t>
            </a:r>
            <a:endParaRPr sz="1600" b="1" i="0">
              <a:solidFill>
                <a:srgbClr val="0C5B53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399032" y="4361688"/>
            <a:ext cx="2505456" cy="103327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20" b="0" i="0">
                <a:solidFill>
                  <a:srgbClr val="232826"/>
                </a:solidFill>
                <a:latin typeface="Aptos"/>
              </a:rPr>
              <a:t>Support doctor availability, booking and status updates.</a:t>
            </a:r>
            <a:endParaRPr sz="1220" b="0" i="0">
              <a:solidFill>
                <a:srgbClr val="232826"/>
              </a:solidFill>
              <a:latin typeface="Apto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389120" y="3749039"/>
            <a:ext cx="338328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2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53712" y="3913631"/>
            <a:ext cx="438912" cy="438912"/>
          </a:xfrm>
          <a:prstGeom prst="ellipse">
            <a:avLst/>
          </a:prstGeom>
          <a:solidFill>
            <a:srgbClr val="DC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53712" y="3941063"/>
            <a:ext cx="438912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0C5B53"/>
                </a:solidFill>
                <a:latin typeface="Aptos"/>
              </a:rPr>
              <a:t>05</a:t>
            </a:r>
            <a:endParaRPr sz="1100" b="1" i="0">
              <a:solidFill>
                <a:srgbClr val="0C5B53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102352" y="3913631"/>
            <a:ext cx="2505456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0C5B53"/>
                </a:solidFill>
                <a:latin typeface="Aptos"/>
              </a:rPr>
              <a:t>Growth monitoring</a:t>
            </a:r>
            <a:endParaRPr sz="1600" b="1" i="0">
              <a:solidFill>
                <a:srgbClr val="0C5B53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102352" y="4361688"/>
            <a:ext cx="2505456" cy="103327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20" b="0" i="0">
                <a:solidFill>
                  <a:srgbClr val="232826"/>
                </a:solidFill>
                <a:latin typeface="Aptos"/>
              </a:rPr>
              <a:t>Record baby measurements and present growth information visually.</a:t>
            </a:r>
            <a:endParaRPr sz="1220" b="0" i="0">
              <a:solidFill>
                <a:srgbClr val="232826"/>
              </a:solidFill>
              <a:latin typeface="Aptos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8092440" y="3749039"/>
            <a:ext cx="338328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2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257031" y="3913631"/>
            <a:ext cx="438912" cy="438912"/>
          </a:xfrm>
          <a:prstGeom prst="ellipse">
            <a:avLst/>
          </a:prstGeom>
          <a:solidFill>
            <a:srgbClr val="DC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57031" y="3941063"/>
            <a:ext cx="438912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0C5B53"/>
                </a:solidFill>
                <a:latin typeface="Aptos"/>
              </a:rPr>
              <a:t>06</a:t>
            </a:r>
            <a:endParaRPr sz="1100" b="1" i="0">
              <a:solidFill>
                <a:srgbClr val="0C5B53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805672" y="3913631"/>
            <a:ext cx="2505456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0C5B53"/>
                </a:solidFill>
                <a:latin typeface="Aptos"/>
              </a:rPr>
              <a:t>Government oversight</a:t>
            </a:r>
            <a:endParaRPr sz="1600" b="1" i="0">
              <a:solidFill>
                <a:srgbClr val="0C5B53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805672" y="4361688"/>
            <a:ext cx="2505456" cy="103327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20" b="0" i="0">
                <a:solidFill>
                  <a:srgbClr val="232826"/>
                </a:solidFill>
                <a:latin typeface="Aptos"/>
              </a:rPr>
              <a:t>Provide dashboards, reports, notifications and healthcare content management.</a:t>
            </a:r>
            <a:endParaRPr sz="1220" b="0" i="0">
              <a:solidFill>
                <a:srgbClr val="232826"/>
              </a:solidFill>
              <a:latin typeface="Apto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94360" y="6565392"/>
            <a:ext cx="43891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50" b="1" i="0">
                <a:solidFill>
                  <a:srgbClr val="5C6865"/>
                </a:solidFill>
                <a:latin typeface="Aptos"/>
              </a:rPr>
              <a:t>MARGAM • MCA FINAL YEAR MINI PROJECT</a:t>
            </a:r>
            <a:endParaRPr sz="750" b="1" i="0">
              <a:solidFill>
                <a:srgbClr val="5C6865"/>
              </a:solidFill>
              <a:latin typeface="Apto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1064240" y="6537960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5C6865"/>
                </a:solidFill>
                <a:latin typeface="Aptos"/>
              </a:rPr>
              <a:t>5</a:t>
            </a:r>
            <a:endParaRPr sz="800" b="1" i="0">
              <a:solidFill>
                <a:srgbClr val="5C6865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31089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E27B5B"/>
                </a:solidFill>
                <a:latin typeface="Aptos"/>
              </a:rPr>
              <a:t>05  •  BEFORE MARGAM</a:t>
            </a:r>
            <a:endParaRPr sz="950" b="1" i="0">
              <a:solidFill>
                <a:srgbClr val="E27B5B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14984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0B5B52"/>
                </a:solidFill>
                <a:latin typeface="Georgia" panose="02040502050405020303"/>
              </a:rPr>
              <a:t>Existing System</a:t>
            </a:r>
            <a:endParaRPr sz="2700" b="1" i="0">
              <a:solidFill>
                <a:srgbClr val="0B5B52"/>
              </a:solidFill>
              <a:latin typeface="Georgia" panose="020405020504050203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64240" y="347472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50" b="1" i="0">
                <a:solidFill>
                  <a:srgbClr val="646F6B"/>
                </a:solidFill>
                <a:latin typeface="Aptos"/>
              </a:rPr>
              <a:t>06</a:t>
            </a:r>
            <a:endParaRPr sz="950" b="1" i="0">
              <a:solidFill>
                <a:srgbClr val="646F6B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8368" y="1261872"/>
            <a:ext cx="658368" cy="41148"/>
          </a:xfrm>
          <a:prstGeom prst="rect">
            <a:avLst/>
          </a:prstGeom>
          <a:solidFill>
            <a:srgbClr val="E27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572768"/>
            <a:ext cx="105156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2D3734"/>
                </a:solidFill>
                <a:latin typeface="Aptos"/>
              </a:rPr>
              <a:t>The project targets a workflow dominated by manual records and separate stakeholder interactions.</a:t>
            </a:r>
            <a:endParaRPr sz="1700" b="0" i="0">
              <a:solidFill>
                <a:srgbClr val="2D3734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2514600"/>
            <a:ext cx="2148840" cy="11887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743200"/>
            <a:ext cx="1874519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0B5B52"/>
                </a:solidFill>
                <a:latin typeface="Aptos"/>
              </a:rPr>
              <a:t>Mother / Baby</a:t>
            </a:r>
            <a:endParaRPr sz="130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8680" y="3108960"/>
            <a:ext cx="1874519" cy="3429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>
                <a:solidFill>
                  <a:srgbClr val="232826"/>
                </a:solidFill>
                <a:latin typeface="Aptos"/>
                <a:sym typeface="+mn-ea"/>
              </a:rPr>
              <a:t>Information captured</a:t>
            </a:r>
            <a:endParaRPr sz="1000" b="0" i="0">
              <a:solidFill>
                <a:srgbClr val="232826"/>
              </a:solidFill>
              <a:latin typeface="Aptos"/>
            </a:endParaRPr>
          </a:p>
          <a:p>
            <a:pPr algn="ctr"/>
            <a:endParaRPr sz="1000" b="0" i="0">
              <a:solidFill>
                <a:srgbClr val="646F6B"/>
              </a:solidFill>
              <a:latin typeface="Aptos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2944368" y="2971800"/>
            <a:ext cx="411480" cy="246888"/>
          </a:xfrm>
          <a:prstGeom prst="rightArrow">
            <a:avLst/>
          </a:prstGeom>
          <a:solidFill>
            <a:srgbClr val="E27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74720" y="2514600"/>
            <a:ext cx="2148840" cy="11887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79" y="2743200"/>
            <a:ext cx="1874519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0B5B52"/>
                </a:solidFill>
                <a:latin typeface="Aptos"/>
              </a:rPr>
              <a:t>Field Worker</a:t>
            </a:r>
            <a:endParaRPr sz="130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025264" y="3136900"/>
            <a:ext cx="1874519" cy="18923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>
                <a:solidFill>
                  <a:srgbClr val="232826"/>
                </a:solidFill>
                <a:latin typeface="Aptos"/>
                <a:sym typeface="+mn-ea"/>
              </a:rPr>
              <a:t>Records updated</a:t>
            </a:r>
            <a:endParaRPr sz="1000" b="0" i="0">
              <a:solidFill>
                <a:srgbClr val="646F6B"/>
              </a:solidFill>
              <a:latin typeface="Aptos"/>
            </a:endParaRPr>
          </a:p>
        </p:txBody>
      </p:sp>
      <p:sp>
        <p:nvSpPr>
          <p:cNvPr id="14" name="Right Arrow 13"/>
          <p:cNvSpPr/>
          <p:nvPr/>
        </p:nvSpPr>
        <p:spPr>
          <a:xfrm>
            <a:off x="5687568" y="2971800"/>
            <a:ext cx="411480" cy="246888"/>
          </a:xfrm>
          <a:prstGeom prst="rightArrow">
            <a:avLst/>
          </a:prstGeom>
          <a:solidFill>
            <a:srgbClr val="E27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2514600"/>
            <a:ext cx="2148840" cy="11887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743200"/>
            <a:ext cx="1874519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0B5B52"/>
                </a:solidFill>
                <a:latin typeface="Aptos"/>
              </a:rPr>
              <a:t>Doctor</a:t>
            </a:r>
            <a:endParaRPr sz="130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92875" y="3118485"/>
            <a:ext cx="1874519" cy="18923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>
                <a:solidFill>
                  <a:srgbClr val="232826"/>
                </a:solidFill>
                <a:latin typeface="Aptos"/>
                <a:sym typeface="+mn-ea"/>
              </a:rPr>
              <a:t>Consultation / appointment</a:t>
            </a:r>
            <a:endParaRPr sz="1000" b="0" i="0">
              <a:solidFill>
                <a:srgbClr val="646F6B"/>
              </a:solidFill>
              <a:latin typeface="Aptos"/>
            </a:endParaRPr>
          </a:p>
        </p:txBody>
      </p:sp>
      <p:sp>
        <p:nvSpPr>
          <p:cNvPr id="18" name="Right Arrow 17"/>
          <p:cNvSpPr/>
          <p:nvPr/>
        </p:nvSpPr>
        <p:spPr>
          <a:xfrm>
            <a:off x="8430767" y="2971800"/>
            <a:ext cx="411480" cy="246888"/>
          </a:xfrm>
          <a:prstGeom prst="rightArrow">
            <a:avLst/>
          </a:prstGeom>
          <a:solidFill>
            <a:srgbClr val="E27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961120" y="2514600"/>
            <a:ext cx="2148840" cy="11887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2743200"/>
            <a:ext cx="1874519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0B5B52"/>
                </a:solidFill>
                <a:latin typeface="Aptos"/>
              </a:rPr>
              <a:t>Government</a:t>
            </a:r>
            <a:endParaRPr sz="130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098280" y="3108960"/>
            <a:ext cx="1874519" cy="3429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lang="en-US" altLang="en-US" sz="1000" b="0" i="0">
                <a:solidFill>
                  <a:schemeClr val="tx1"/>
                </a:solidFill>
                <a:latin typeface="Aptos"/>
              </a:rPr>
              <a:t>Monitoring &amp; reporting</a:t>
            </a:r>
            <a:endParaRPr lang="en-US" altLang="en-US" sz="1000" b="0" i="0">
              <a:solidFill>
                <a:schemeClr val="tx1"/>
              </a:solidFill>
              <a:latin typeface="Aptos"/>
            </a:endParaRPr>
          </a:p>
          <a:p>
            <a:pPr algn="ctr"/>
            <a:endParaRPr lang="en-US" altLang="en-US" sz="1000" b="0" i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9808" y="4315968"/>
            <a:ext cx="18288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E27B5B"/>
                </a:solidFill>
                <a:latin typeface="Aptos"/>
              </a:rPr>
              <a:t>LIMITATIONS</a:t>
            </a:r>
            <a:endParaRPr sz="950" b="1" i="0">
              <a:solidFill>
                <a:srgbClr val="E27B5B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22960" y="4681728"/>
            <a:ext cx="10241280" cy="132588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Aft>
                <a:spcPts val="500"/>
              </a:spcAft>
              <a:defRPr sz="1350">
                <a:solidFill>
                  <a:srgbClr val="2D3734"/>
                </a:solidFill>
                <a:latin typeface="Aptos"/>
              </a:defRPr>
            </a:pPr>
            <a:r>
              <a:t>• Information may be maintained across separate records and interactions.</a:t>
            </a:r>
          </a:p>
          <a:p>
            <a:pPr>
              <a:spcAft>
                <a:spcPts val="500"/>
              </a:spcAft>
              <a:defRPr sz="1350">
                <a:solidFill>
                  <a:srgbClr val="2D3734"/>
                </a:solidFill>
                <a:latin typeface="Aptos"/>
              </a:defRPr>
            </a:pPr>
            <a:r>
              <a:t>• Vaccination follow-up can depend on manual tracking.</a:t>
            </a:r>
          </a:p>
          <a:p>
            <a:pPr>
              <a:spcAft>
                <a:spcPts val="500"/>
              </a:spcAft>
              <a:defRPr sz="1350">
                <a:solidFill>
                  <a:srgbClr val="2D3734"/>
                </a:solidFill>
                <a:latin typeface="Aptos"/>
              </a:defRPr>
            </a:pPr>
            <a:r>
              <a:t>• Stakeholders may not have a shared, role-specific view of the same information.</a:t>
            </a:r>
          </a:p>
          <a:p>
            <a:pPr>
              <a:spcAft>
                <a:spcPts val="500"/>
              </a:spcAft>
              <a:defRPr sz="1350">
                <a:solidFill>
                  <a:srgbClr val="2D3734"/>
                </a:solidFill>
                <a:latin typeface="Aptos"/>
              </a:defRPr>
            </a:pPr>
            <a:r>
              <a:t>• Monitoring and reporting require information to be collected and organized.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537960"/>
            <a:ext cx="457200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50" b="1" i="0">
                <a:solidFill>
                  <a:srgbClr val="646F6B"/>
                </a:solidFill>
                <a:latin typeface="Aptos"/>
              </a:rPr>
              <a:t>MARGAM  •  MCA FINAL YEAR MINI PROJECT</a:t>
            </a:r>
            <a:endParaRPr sz="750" b="1" i="0">
              <a:solidFill>
                <a:srgbClr val="646F6B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1064240" y="6519672"/>
            <a:ext cx="4572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646F6B"/>
                </a:solidFill>
                <a:latin typeface="Aptos"/>
              </a:rPr>
              <a:t>6</a:t>
            </a:r>
            <a:endParaRPr sz="800" b="1" i="0">
              <a:solidFill>
                <a:srgbClr val="646F6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31089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E27B5B"/>
                </a:solidFill>
                <a:latin typeface="Aptos"/>
              </a:rPr>
              <a:t>06  •  OUR SOLUTION</a:t>
            </a:r>
            <a:endParaRPr sz="950" b="1" i="0">
              <a:solidFill>
                <a:srgbClr val="E27B5B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14984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0B5B52"/>
                </a:solidFill>
                <a:latin typeface="Georgia" panose="02040502050405020303"/>
              </a:rPr>
              <a:t>Proposed System</a:t>
            </a:r>
            <a:endParaRPr sz="2700" b="1" i="0">
              <a:solidFill>
                <a:srgbClr val="0B5B52"/>
              </a:solidFill>
              <a:latin typeface="Georgia" panose="020405020504050203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64240" y="347472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50" b="1" i="0">
                <a:solidFill>
                  <a:srgbClr val="646F6B"/>
                </a:solidFill>
                <a:latin typeface="Aptos"/>
              </a:rPr>
              <a:t>07</a:t>
            </a:r>
            <a:endParaRPr sz="950" b="1" i="0">
              <a:solidFill>
                <a:srgbClr val="646F6B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8368" y="1261872"/>
            <a:ext cx="658368" cy="41148"/>
          </a:xfrm>
          <a:prstGeom prst="rect">
            <a:avLst/>
          </a:prstGeom>
          <a:solidFill>
            <a:srgbClr val="E27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554480"/>
            <a:ext cx="105156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2D3734"/>
                </a:solidFill>
                <a:latin typeface="Aptos"/>
              </a:rPr>
              <a:t>MARGAM replaces the fragmented workflow with a single role-based digital platform.</a:t>
            </a:r>
            <a:endParaRPr sz="1700" b="0" i="0">
              <a:solidFill>
                <a:srgbClr val="2D3734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13232" y="2514600"/>
            <a:ext cx="1874519" cy="1051560"/>
          </a:xfrm>
          <a:prstGeom prst="roundRect">
            <a:avLst/>
          </a:prstGeom>
          <a:solidFill>
            <a:srgbClr val="E5F1ED"/>
          </a:solidFill>
          <a:ln w="8890">
            <a:solidFill>
              <a:srgbClr val="D2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724912"/>
            <a:ext cx="169164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50" b="1" i="0">
                <a:solidFill>
                  <a:srgbClr val="0B5B52"/>
                </a:solidFill>
                <a:latin typeface="Aptos"/>
              </a:rPr>
              <a:t>Government</a:t>
            </a:r>
            <a:endParaRPr sz="125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28522" y="3075305"/>
            <a:ext cx="1691640" cy="1816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>
                <a:solidFill>
                  <a:srgbClr val="232826"/>
                </a:solidFill>
                <a:latin typeface="Aptos"/>
                <a:sym typeface="+mn-ea"/>
              </a:rPr>
              <a:t>Manage &amp; monitor</a:t>
            </a:r>
            <a:endParaRPr sz="950" b="0" i="0">
              <a:solidFill>
                <a:srgbClr val="646F6B"/>
              </a:solidFill>
              <a:latin typeface="Aptos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2633472" y="2907792"/>
            <a:ext cx="256032" cy="201168"/>
          </a:xfrm>
          <a:prstGeom prst="rightArrow">
            <a:avLst/>
          </a:prstGeom>
          <a:solidFill>
            <a:srgbClr val="E27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53512" y="2514600"/>
            <a:ext cx="1874519" cy="10515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44952" y="2724912"/>
            <a:ext cx="169164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50" b="1" i="0">
                <a:solidFill>
                  <a:srgbClr val="0B5B52"/>
                </a:solidFill>
                <a:latin typeface="Aptos"/>
              </a:rPr>
              <a:t>Doctor</a:t>
            </a:r>
            <a:endParaRPr sz="125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241802" y="3063240"/>
            <a:ext cx="1691640" cy="1816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>
                <a:solidFill>
                  <a:srgbClr val="232826"/>
                </a:solidFill>
                <a:latin typeface="Aptos"/>
                <a:sym typeface="+mn-ea"/>
              </a:rPr>
              <a:t>Appointments &amp; records</a:t>
            </a:r>
            <a:endParaRPr sz="950" b="0" i="0">
              <a:solidFill>
                <a:srgbClr val="646F6B"/>
              </a:solidFill>
              <a:latin typeface="Aptos"/>
            </a:endParaRPr>
          </a:p>
        </p:txBody>
      </p:sp>
      <p:sp>
        <p:nvSpPr>
          <p:cNvPr id="14" name="Right Arrow 13"/>
          <p:cNvSpPr/>
          <p:nvPr/>
        </p:nvSpPr>
        <p:spPr>
          <a:xfrm>
            <a:off x="4873752" y="2907792"/>
            <a:ext cx="256032" cy="201168"/>
          </a:xfrm>
          <a:prstGeom prst="rightArrow">
            <a:avLst/>
          </a:prstGeom>
          <a:solidFill>
            <a:srgbClr val="E27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93792" y="2514600"/>
            <a:ext cx="1874519" cy="10515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85232" y="2724912"/>
            <a:ext cx="169164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50" b="1" i="0">
                <a:solidFill>
                  <a:srgbClr val="0B5B52"/>
                </a:solidFill>
                <a:latin typeface="Aptos"/>
              </a:rPr>
              <a:t>ASHA Worker</a:t>
            </a:r>
            <a:endParaRPr sz="125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587492" y="3074670"/>
            <a:ext cx="1691640" cy="1816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>
                <a:solidFill>
                  <a:srgbClr val="232826"/>
                </a:solidFill>
                <a:latin typeface="Aptos"/>
                <a:sym typeface="+mn-ea"/>
              </a:rPr>
              <a:t>Field-level updates</a:t>
            </a:r>
            <a:endParaRPr sz="950" b="0" i="0">
              <a:solidFill>
                <a:srgbClr val="646F6B"/>
              </a:solidFill>
              <a:latin typeface="Aptos"/>
            </a:endParaRPr>
          </a:p>
        </p:txBody>
      </p:sp>
      <p:sp>
        <p:nvSpPr>
          <p:cNvPr id="18" name="Right Arrow 17"/>
          <p:cNvSpPr/>
          <p:nvPr/>
        </p:nvSpPr>
        <p:spPr>
          <a:xfrm>
            <a:off x="7114032" y="2907792"/>
            <a:ext cx="256032" cy="201168"/>
          </a:xfrm>
          <a:prstGeom prst="rightArrow">
            <a:avLst/>
          </a:prstGeom>
          <a:solidFill>
            <a:srgbClr val="E27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34072" y="2514600"/>
            <a:ext cx="1874519" cy="10515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25512" y="2724912"/>
            <a:ext cx="169164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50" b="1" i="0">
                <a:solidFill>
                  <a:srgbClr val="0B5B52"/>
                </a:solidFill>
                <a:latin typeface="Aptos"/>
              </a:rPr>
              <a:t>Mother</a:t>
            </a:r>
            <a:endParaRPr sz="125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736967" y="3063240"/>
            <a:ext cx="1691640" cy="1816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>
                <a:solidFill>
                  <a:srgbClr val="232826"/>
                </a:solidFill>
                <a:latin typeface="Aptos"/>
                <a:sym typeface="+mn-ea"/>
              </a:rPr>
              <a:t>Personal care access</a:t>
            </a:r>
            <a:endParaRPr sz="950" b="0" i="0">
              <a:solidFill>
                <a:srgbClr val="646F6B"/>
              </a:solidFill>
              <a:latin typeface="Aptos"/>
            </a:endParaRPr>
          </a:p>
        </p:txBody>
      </p:sp>
      <p:sp>
        <p:nvSpPr>
          <p:cNvPr id="22" name="Right Arrow 21"/>
          <p:cNvSpPr/>
          <p:nvPr/>
        </p:nvSpPr>
        <p:spPr>
          <a:xfrm>
            <a:off x="9354312" y="2907792"/>
            <a:ext cx="256032" cy="201168"/>
          </a:xfrm>
          <a:prstGeom prst="rightArrow">
            <a:avLst/>
          </a:prstGeom>
          <a:solidFill>
            <a:srgbClr val="E27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674352" y="2514600"/>
            <a:ext cx="1874519" cy="1051560"/>
          </a:xfrm>
          <a:prstGeom prst="roundRect">
            <a:avLst/>
          </a:prstGeom>
          <a:solidFill>
            <a:srgbClr val="E5F1ED"/>
          </a:solidFill>
          <a:ln w="8890">
            <a:solidFill>
              <a:srgbClr val="D2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65792" y="2724912"/>
            <a:ext cx="169164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50" b="1" i="0">
                <a:solidFill>
                  <a:srgbClr val="0B5B52"/>
                </a:solidFill>
                <a:latin typeface="Aptos"/>
              </a:rPr>
              <a:t>Baby</a:t>
            </a:r>
            <a:endParaRPr sz="125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765792" y="3063240"/>
            <a:ext cx="169164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646F6B"/>
                </a:solidFill>
                <a:latin typeface="Aptos"/>
              </a:rPr>
              <a:t>monitoring</a:t>
            </a:r>
            <a:endParaRPr sz="950" b="0" i="0">
              <a:solidFill>
                <a:srgbClr val="646F6B"/>
              </a:solidFill>
              <a:latin typeface="Apto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22960" y="4160520"/>
            <a:ext cx="4983480" cy="1143000"/>
          </a:xfrm>
          <a:prstGeom prst="roundRect">
            <a:avLst/>
          </a:prstGeom>
          <a:solidFill>
            <a:srgbClr val="E5F1ED"/>
          </a:solidFill>
          <a:ln w="8890">
            <a:solidFill>
              <a:srgbClr val="D2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7552" y="4325112"/>
            <a:ext cx="393192" cy="393192"/>
          </a:xfrm>
          <a:prstGeom prst="ellipse">
            <a:avLst/>
          </a:prstGeom>
          <a:solidFill>
            <a:srgbClr val="D3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7552" y="4421124"/>
            <a:ext cx="393192" cy="128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50" b="1" i="0">
                <a:solidFill>
                  <a:srgbClr val="0B5B52"/>
                </a:solidFill>
                <a:latin typeface="Aptos"/>
              </a:rPr>
              <a:t>↑</a:t>
            </a:r>
            <a:endParaRPr sz="85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490472" y="4325112"/>
            <a:ext cx="4133088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50" b="1" i="0">
                <a:solidFill>
                  <a:srgbClr val="0B5B52"/>
                </a:solidFill>
                <a:latin typeface="Aptos"/>
              </a:rPr>
              <a:t>What changes</a:t>
            </a:r>
            <a:endParaRPr sz="145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490472" y="4745736"/>
            <a:ext cx="4133088" cy="4297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30" b="0" i="0">
                <a:solidFill>
                  <a:srgbClr val="2D3734"/>
                </a:solidFill>
                <a:latin typeface="Aptos"/>
              </a:rPr>
              <a:t>Centralized records • role-based dashboards • automated vaccination workflow • appointment status tracking.</a:t>
            </a:r>
            <a:endParaRPr sz="1130" b="0" i="0">
              <a:solidFill>
                <a:srgbClr val="2D3734"/>
              </a:solidFill>
              <a:latin typeface="Aptos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172200" y="4160520"/>
            <a:ext cx="507492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336792" y="4325112"/>
            <a:ext cx="393192" cy="393192"/>
          </a:xfrm>
          <a:prstGeom prst="ellipse">
            <a:avLst/>
          </a:prstGeom>
          <a:solidFill>
            <a:srgbClr val="D3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36792" y="4421124"/>
            <a:ext cx="393192" cy="128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50" b="1" i="0">
                <a:solidFill>
                  <a:srgbClr val="0B5B52"/>
                </a:solidFill>
                <a:latin typeface="Aptos"/>
              </a:rPr>
              <a:t>✓</a:t>
            </a:r>
            <a:endParaRPr sz="85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839712" y="4325112"/>
            <a:ext cx="4224528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50" b="1" i="0">
                <a:solidFill>
                  <a:srgbClr val="0B5B52"/>
                </a:solidFill>
                <a:latin typeface="Aptos"/>
              </a:rPr>
              <a:t>Key improvement</a:t>
            </a:r>
            <a:endParaRPr sz="145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839712" y="4745736"/>
            <a:ext cx="4224528" cy="4297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30" b="0" i="0">
                <a:solidFill>
                  <a:srgbClr val="2D3734"/>
                </a:solidFill>
                <a:latin typeface="Aptos"/>
              </a:rPr>
              <a:t>Relevant information becomes available through one coordinated application instead of separate manual processes.</a:t>
            </a:r>
            <a:endParaRPr sz="1130" b="0" i="0">
              <a:solidFill>
                <a:srgbClr val="2D3734"/>
              </a:solidFill>
              <a:latin typeface="Apto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58368" y="6537960"/>
            <a:ext cx="457200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50" b="1" i="0">
                <a:solidFill>
                  <a:srgbClr val="646F6B"/>
                </a:solidFill>
                <a:latin typeface="Aptos"/>
              </a:rPr>
              <a:t>MARGAM  •  MCA FINAL YEAR MINI PROJECT</a:t>
            </a:r>
            <a:endParaRPr sz="750" b="1" i="0">
              <a:solidFill>
                <a:srgbClr val="646F6B"/>
              </a:solidFill>
              <a:latin typeface="Apto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1064240" y="6519672"/>
            <a:ext cx="4572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646F6B"/>
                </a:solidFill>
                <a:latin typeface="Aptos"/>
              </a:rPr>
              <a:t>7</a:t>
            </a:r>
            <a:endParaRPr sz="800" b="1" i="0">
              <a:solidFill>
                <a:srgbClr val="646F6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31089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E27B5B"/>
                </a:solidFill>
                <a:latin typeface="Aptos"/>
              </a:rPr>
              <a:t>07  •  BOUNDARIES</a:t>
            </a:r>
            <a:endParaRPr sz="950" b="1" i="0">
              <a:solidFill>
                <a:srgbClr val="E27B5B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14984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0B5B52"/>
                </a:solidFill>
                <a:latin typeface="Georgia" panose="02040502050405020303"/>
              </a:rPr>
              <a:t>Scope of the Project</a:t>
            </a:r>
            <a:endParaRPr sz="2700" b="1" i="0">
              <a:solidFill>
                <a:srgbClr val="0B5B52"/>
              </a:solidFill>
              <a:latin typeface="Georgia" panose="020405020504050203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64240" y="347472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50" b="1" i="0">
                <a:solidFill>
                  <a:srgbClr val="646F6B"/>
                </a:solidFill>
                <a:latin typeface="Aptos"/>
              </a:rPr>
              <a:t>08</a:t>
            </a:r>
            <a:endParaRPr sz="950" b="1" i="0">
              <a:solidFill>
                <a:srgbClr val="646F6B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8368" y="1261872"/>
            <a:ext cx="658368" cy="41148"/>
          </a:xfrm>
          <a:prstGeom prst="rect">
            <a:avLst/>
          </a:prstGeom>
          <a:solidFill>
            <a:srgbClr val="E27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572768"/>
            <a:ext cx="105156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2D3734"/>
                </a:solidFill>
                <a:latin typeface="Aptos"/>
              </a:rPr>
              <a:t>The final implementation focuses on the core web workflow. Extensions are kept separate as future scope.</a:t>
            </a:r>
            <a:endParaRPr sz="1700" b="0" i="0">
              <a:solidFill>
                <a:srgbClr val="2D3734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2331720"/>
            <a:ext cx="5166360" cy="3154680"/>
          </a:xfrm>
          <a:prstGeom prst="roundRect">
            <a:avLst/>
          </a:prstGeom>
          <a:solidFill>
            <a:srgbClr val="E5F1ED"/>
          </a:solidFill>
          <a:ln w="8890">
            <a:solidFill>
              <a:srgbClr val="D2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578608"/>
            <a:ext cx="18288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E27B5B"/>
                </a:solidFill>
                <a:latin typeface="Aptos"/>
              </a:rPr>
              <a:t>IN SCOPE</a:t>
            </a:r>
            <a:endParaRPr sz="1200" b="1" i="0">
              <a:solidFill>
                <a:srgbClr val="E27B5B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32688" y="2971800"/>
            <a:ext cx="4617720" cy="1960245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defRPr sz="1300">
                <a:solidFill>
                  <a:srgbClr val="2D3734"/>
                </a:solidFill>
                <a:latin typeface="Aptos"/>
              </a:defRPr>
            </a:pPr>
            <a:r>
              <a:t>•</a:t>
            </a:r>
            <a:r>
              <a:rPr>
                <a:solidFill>
                  <a:srgbClr val="232826"/>
                </a:solidFill>
                <a:sym typeface="+mn-ea"/>
              </a:rPr>
              <a:t> Role-based authentication and dashboards
• Mother &amp; baby profile management
• Pregnancy and growth records
• Vaccination scheduling and status tracking
• Doctor availability and appointment booking
• Notifications, health tips, food and disease information
• Government monitoring, projects, resources and reports</a:t>
            </a:r>
            <a:endParaRPr b="0" i="0">
              <a:solidFill>
                <a:srgbClr val="232826"/>
              </a:solidFill>
              <a:latin typeface="Aptos"/>
            </a:endParaRPr>
          </a:p>
          <a:p>
            <a:pPr>
              <a:spcAft>
                <a:spcPts val="500"/>
              </a:spcAft>
              <a:defRPr sz="1300">
                <a:solidFill>
                  <a:srgbClr val="2D3734"/>
                </a:solidFill>
                <a:latin typeface="Aptos"/>
              </a:defRPr>
            </a:pPr>
          </a:p>
        </p:txBody>
      </p:sp>
      <p:sp>
        <p:nvSpPr>
          <p:cNvPr id="10" name="Rounded Rectangle 9"/>
          <p:cNvSpPr/>
          <p:nvPr/>
        </p:nvSpPr>
        <p:spPr>
          <a:xfrm>
            <a:off x="6263640" y="2331720"/>
            <a:ext cx="5166360" cy="3154680"/>
          </a:xfrm>
          <a:prstGeom prst="roundRect">
            <a:avLst/>
          </a:prstGeom>
          <a:solidFill>
            <a:srgbClr val="FCEFE9"/>
          </a:solidFill>
          <a:ln w="8890">
            <a:solidFill>
              <a:srgbClr val="EE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2578608"/>
            <a:ext cx="27432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E27B5B"/>
                </a:solidFill>
                <a:latin typeface="Aptos"/>
              </a:rPr>
              <a:t>FUTURE APPLICATIONS</a:t>
            </a:r>
            <a:endParaRPr sz="1200" b="1" i="0">
              <a:solidFill>
                <a:srgbClr val="E27B5B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73952" y="2971800"/>
            <a:ext cx="4572000" cy="177673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defRPr sz="1300">
                <a:solidFill>
                  <a:srgbClr val="2D3734"/>
                </a:solidFill>
                <a:latin typeface="Aptos"/>
              </a:defRPr>
            </a:pPr>
            <a:r>
              <a:t>• Native mobile application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300">
                <a:solidFill>
                  <a:srgbClr val="2D3734"/>
                </a:solidFill>
                <a:latin typeface="Aptos"/>
              </a:defRPr>
            </a:pPr>
            <a:r>
              <a:t>• SMS alerts for low-connectivity areas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300">
                <a:solidFill>
                  <a:srgbClr val="2D3734"/>
                </a:solidFill>
                <a:latin typeface="Aptos"/>
              </a:defRPr>
            </a:pPr>
            <a:r>
              <a:t>• AI-assisted health risk prediction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300">
                <a:solidFill>
                  <a:srgbClr val="2D3734"/>
                </a:solidFill>
                <a:latin typeface="Aptos"/>
              </a:defRPr>
            </a:pPr>
            <a:r>
              <a:t>• GPS-assisted field monitoring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300">
                <a:solidFill>
                  <a:srgbClr val="2D3734"/>
                </a:solidFill>
                <a:latin typeface="Aptos"/>
              </a:defRPr>
            </a:pPr>
            <a:r>
              <a:t>• Wearable-device integration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300">
                <a:solidFill>
                  <a:srgbClr val="2D3734"/>
                </a:solidFill>
                <a:latin typeface="Aptos"/>
              </a:defRPr>
            </a:pPr>
            <a:r>
              <a:t>• Offline entry with later synchronization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537960"/>
            <a:ext cx="457200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50" b="1" i="0">
                <a:solidFill>
                  <a:srgbClr val="646F6B"/>
                </a:solidFill>
                <a:latin typeface="Aptos"/>
              </a:rPr>
              <a:t>MARGAM  •  MCA FINAL YEAR MINI PROJECT</a:t>
            </a:r>
            <a:endParaRPr sz="750" b="1" i="0">
              <a:solidFill>
                <a:srgbClr val="646F6B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064240" y="6519672"/>
            <a:ext cx="4572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646F6B"/>
                </a:solidFill>
                <a:latin typeface="Aptos"/>
              </a:rPr>
              <a:t>8</a:t>
            </a:r>
            <a:endParaRPr sz="800" b="1" i="0">
              <a:solidFill>
                <a:srgbClr val="646F6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31089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E27B5B"/>
                </a:solidFill>
                <a:latin typeface="Aptos"/>
              </a:rPr>
              <a:t>08  •  RESEARCH GROUNDING</a:t>
            </a:r>
            <a:endParaRPr sz="950" b="1" i="0">
              <a:solidFill>
                <a:srgbClr val="E27B5B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14984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0B5B52"/>
                </a:solidFill>
                <a:latin typeface="Georgia" panose="02040502050405020303"/>
              </a:rPr>
              <a:t>Literature Review</a:t>
            </a:r>
            <a:endParaRPr sz="2700" b="1" i="0">
              <a:solidFill>
                <a:srgbClr val="0B5B52"/>
              </a:solidFill>
              <a:latin typeface="Georgia" panose="020405020504050203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64240" y="347472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50" b="1" i="0">
                <a:solidFill>
                  <a:srgbClr val="646F6B"/>
                </a:solidFill>
                <a:latin typeface="Aptos"/>
              </a:rPr>
              <a:t>09</a:t>
            </a:r>
            <a:endParaRPr sz="950" b="1" i="0">
              <a:solidFill>
                <a:srgbClr val="646F6B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8368" y="1261872"/>
            <a:ext cx="658368" cy="41148"/>
          </a:xfrm>
          <a:prstGeom prst="rect">
            <a:avLst/>
          </a:prstGeom>
          <a:solidFill>
            <a:srgbClr val="E27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144768"/>
            <a:ext cx="109728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20" b="0" i="1">
                <a:solidFill>
                  <a:srgbClr val="646F6B"/>
                </a:solidFill>
                <a:latin typeface="Aptos"/>
              </a:rPr>
              <a:t>The supplied review mainly reports qualitative findings; no directly comparable accuracy/F1 metrics are claimed for MARGAM.</a:t>
            </a:r>
            <a:endParaRPr sz="920" b="0" i="1">
              <a:solidFill>
                <a:srgbClr val="646F6B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8368" y="6537960"/>
            <a:ext cx="457200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50" b="1" i="0">
                <a:solidFill>
                  <a:srgbClr val="646F6B"/>
                </a:solidFill>
                <a:latin typeface="Aptos"/>
              </a:rPr>
              <a:t>MARGAM  •  MCA FINAL YEAR MINI PROJECT</a:t>
            </a:r>
            <a:endParaRPr sz="750" b="1" i="0">
              <a:solidFill>
                <a:srgbClr val="646F6B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064240" y="6519672"/>
            <a:ext cx="4572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646F6B"/>
                </a:solidFill>
                <a:latin typeface="Aptos"/>
              </a:rPr>
              <a:t>9</a:t>
            </a:r>
            <a:endParaRPr sz="800" b="1" i="0">
              <a:solidFill>
                <a:srgbClr val="646F6B"/>
              </a:solidFill>
              <a:latin typeface="Aptos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1261872"/>
          <a:ext cx="11384280" cy="4206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1965960"/>
                <a:gridCol w="2971800"/>
                <a:gridCol w="3474720"/>
              </a:tblGrid>
              <a:tr h="42062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Title &amp; Year</a:t>
                      </a:r>
                      <a:endParaRPr sz="1000" b="1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 marL="54864" marR="45720" marT="22860" marB="18288" anchor="ctr">
                    <a:solidFill>
                      <a:srgbClr val="0867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Author / Year</a:t>
                      </a:r>
                      <a:endParaRPr sz="1000" b="1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 marL="54864" marR="45720" marT="22860" marB="18288" anchor="ctr">
                    <a:solidFill>
                      <a:srgbClr val="0867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Technology / Method</a:t>
                      </a:r>
                      <a:endParaRPr sz="1000" b="1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 marL="54864" marR="45720" marT="22860" marB="18288" anchor="ctr">
                    <a:solidFill>
                      <a:srgbClr val="0867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Performance / Finding</a:t>
                      </a:r>
                      <a:endParaRPr sz="1000" b="1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 marL="54864" marR="45720" marT="22860" marB="18288" anchor="ctr">
                    <a:solidFill>
                      <a:srgbClr val="08675C"/>
                    </a:solidFill>
                  </a:tcPr>
                </a:tc>
              </a:tr>
              <a:tr h="420623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5D57"/>
                          </a:solidFill>
                          <a:latin typeface="Aptos"/>
                        </a:rPr>
                        <a:t>Maternal and Child Vaccination System (2025) — BASE PAPER</a:t>
                      </a:r>
                      <a:endParaRPr sz="1000" b="0">
                        <a:solidFill>
                          <a:srgbClr val="225D57"/>
                        </a:solidFill>
                        <a:latin typeface="Aptos"/>
                      </a:endParaRPr>
                    </a:p>
                  </a:txBody>
                  <a:tcPr marL="54864" marR="45720" marT="22860" marB="18288" anchor="ctr">
                    <a:solidFill>
                      <a:srgbClr val="EEF5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5B58"/>
                          </a:solidFill>
                          <a:latin typeface="Aptos"/>
                        </a:rPr>
                        <a:t>Kavitha et al., 2025</a:t>
                      </a:r>
                      <a:endParaRPr sz="1000" b="0">
                        <a:solidFill>
                          <a:srgbClr val="3A5B58"/>
                        </a:solidFill>
                        <a:latin typeface="Aptos"/>
                      </a:endParaRPr>
                    </a:p>
                  </a:txBody>
                  <a:tcPr marL="54864" marR="45720" marT="22860" marB="18288" anchor="ctr">
                    <a:solidFill>
                      <a:srgbClr val="EEF5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5B58"/>
                          </a:solidFill>
                          <a:latin typeface="Aptos"/>
                        </a:rPr>
                        <a:t>Digital maternal &amp; child healthcare</a:t>
                      </a:r>
                      <a:endParaRPr sz="1000" b="0">
                        <a:solidFill>
                          <a:srgbClr val="3A5B58"/>
                        </a:solidFill>
                        <a:latin typeface="Aptos"/>
                      </a:endParaRPr>
                    </a:p>
                  </a:txBody>
                  <a:tcPr marL="54864" marR="45720" marT="22860" marB="18288" anchor="ctr">
                    <a:solidFill>
                      <a:srgbClr val="EEF5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5B58"/>
                          </a:solidFill>
                          <a:latin typeface="Aptos"/>
                        </a:rPr>
                        <a:t>Integrated maternal care &amp; vaccination monitoring</a:t>
                      </a:r>
                      <a:endParaRPr sz="1000" b="0">
                        <a:solidFill>
                          <a:srgbClr val="3A5B58"/>
                        </a:solidFill>
                        <a:latin typeface="Aptos"/>
                      </a:endParaRPr>
                    </a:p>
                  </a:txBody>
                  <a:tcPr marL="54864" marR="45720" marT="22860" marB="18288" anchor="ctr">
                    <a:solidFill>
                      <a:srgbClr val="EEF5F4"/>
                    </a:solidFill>
                  </a:tcPr>
                </a:tc>
              </a:tr>
              <a:tr h="420623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5D57"/>
                          </a:solidFill>
                          <a:latin typeface="Aptos"/>
                        </a:rPr>
                        <a:t>Vaccidoc: Child Vaccination System (2021)</a:t>
                      </a:r>
                      <a:endParaRPr sz="1000" b="0">
                        <a:solidFill>
                          <a:srgbClr val="225D57"/>
                        </a:solidFill>
                        <a:latin typeface="Aptos"/>
                      </a:endParaRPr>
                    </a:p>
                  </a:txBody>
                  <a:tcPr marL="54864" marR="45720" marT="22860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5B58"/>
                          </a:solidFill>
                          <a:latin typeface="Aptos"/>
                        </a:rPr>
                        <a:t>Salawu, 2021</a:t>
                      </a:r>
                      <a:endParaRPr sz="1000" b="0">
                        <a:solidFill>
                          <a:srgbClr val="3A5B58"/>
                        </a:solidFill>
                        <a:latin typeface="Aptos"/>
                      </a:endParaRPr>
                    </a:p>
                  </a:txBody>
                  <a:tcPr marL="54864" marR="45720" marT="22860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5B58"/>
                          </a:solidFill>
                          <a:latin typeface="Aptos"/>
                        </a:rPr>
                        <a:t>Web + SMS tracking</a:t>
                      </a:r>
                      <a:endParaRPr sz="1000" b="0">
                        <a:solidFill>
                          <a:srgbClr val="3A5B58"/>
                        </a:solidFill>
                        <a:latin typeface="Aptos"/>
                      </a:endParaRPr>
                    </a:p>
                  </a:txBody>
                  <a:tcPr marL="54864" marR="45720" marT="22860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5B58"/>
                          </a:solidFill>
                          <a:latin typeface="Aptos"/>
                        </a:rPr>
                        <a:t>Improved vaccination adherence</a:t>
                      </a:r>
                      <a:endParaRPr sz="1000" b="0">
                        <a:solidFill>
                          <a:srgbClr val="3A5B58"/>
                        </a:solidFill>
                        <a:latin typeface="Aptos"/>
                      </a:endParaRPr>
                    </a:p>
                  </a:txBody>
                  <a:tcPr marL="54864" marR="45720" marT="22860" marB="18288" anchor="ctr">
                    <a:solidFill>
                      <a:srgbClr val="FFFFFF"/>
                    </a:solidFill>
                  </a:tcPr>
                </a:tc>
              </a:tr>
              <a:tr h="420623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5D57"/>
                          </a:solidFill>
                          <a:latin typeface="Aptos"/>
                        </a:rPr>
                        <a:t>VacChain (2022)</a:t>
                      </a:r>
                      <a:endParaRPr sz="1000" b="0">
                        <a:solidFill>
                          <a:srgbClr val="225D57"/>
                        </a:solidFill>
                        <a:latin typeface="Aptos"/>
                      </a:endParaRPr>
                    </a:p>
                  </a:txBody>
                  <a:tcPr marL="54864" marR="45720" marT="22860" marB="18288" anchor="ctr">
                    <a:solidFill>
                      <a:srgbClr val="EEF5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5B58"/>
                          </a:solidFill>
                          <a:latin typeface="Aptos"/>
                        </a:rPr>
                        <a:t>Alnssayan et al., 2022</a:t>
                      </a:r>
                      <a:endParaRPr sz="1000" b="0">
                        <a:solidFill>
                          <a:srgbClr val="3A5B58"/>
                        </a:solidFill>
                        <a:latin typeface="Aptos"/>
                      </a:endParaRPr>
                    </a:p>
                  </a:txBody>
                  <a:tcPr marL="54864" marR="45720" marT="22860" marB="18288" anchor="ctr">
                    <a:solidFill>
                      <a:srgbClr val="EEF5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5B58"/>
                          </a:solidFill>
                          <a:latin typeface="Aptos"/>
                        </a:rPr>
                        <a:t>Secure EMR / vaccination records</a:t>
                      </a:r>
                      <a:endParaRPr sz="1000" b="0">
                        <a:solidFill>
                          <a:srgbClr val="3A5B58"/>
                        </a:solidFill>
                        <a:latin typeface="Aptos"/>
                      </a:endParaRPr>
                    </a:p>
                  </a:txBody>
                  <a:tcPr marL="54864" marR="45720" marT="22860" marB="18288" anchor="ctr">
                    <a:solidFill>
                      <a:srgbClr val="EEF5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5B58"/>
                          </a:solidFill>
                          <a:latin typeface="Aptos"/>
                        </a:rPr>
                        <a:t>Improved security &amp; transparency</a:t>
                      </a:r>
                      <a:endParaRPr sz="1000" b="0">
                        <a:solidFill>
                          <a:srgbClr val="3A5B58"/>
                        </a:solidFill>
                        <a:latin typeface="Aptos"/>
                      </a:endParaRPr>
                    </a:p>
                  </a:txBody>
                  <a:tcPr marL="54864" marR="45720" marT="22860" marB="18288" anchor="ctr">
                    <a:solidFill>
                      <a:srgbClr val="EEF5F4"/>
                    </a:solidFill>
                  </a:tcPr>
                </a:tc>
              </a:tr>
              <a:tr h="420623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5D57"/>
                          </a:solidFill>
                          <a:latin typeface="Aptos"/>
                        </a:rPr>
                        <a:t>Vaccine Management System (2023)</a:t>
                      </a:r>
                      <a:endParaRPr sz="1000" b="0">
                        <a:solidFill>
                          <a:srgbClr val="225D57"/>
                        </a:solidFill>
                        <a:latin typeface="Aptos"/>
                      </a:endParaRPr>
                    </a:p>
                  </a:txBody>
                  <a:tcPr marL="54864" marR="45720" marT="22860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5B58"/>
                          </a:solidFill>
                          <a:latin typeface="Aptos"/>
                        </a:rPr>
                        <a:t>Kamal Acharya, 2023</a:t>
                      </a:r>
                      <a:endParaRPr sz="1000" b="0">
                        <a:solidFill>
                          <a:srgbClr val="3A5B58"/>
                        </a:solidFill>
                        <a:latin typeface="Aptos"/>
                      </a:endParaRPr>
                    </a:p>
                  </a:txBody>
                  <a:tcPr marL="54864" marR="45720" marT="22860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5B58"/>
                          </a:solidFill>
                          <a:latin typeface="Aptos"/>
                        </a:rPr>
                        <a:t>Digital scheduling &amp; reports</a:t>
                      </a:r>
                      <a:endParaRPr sz="1000" b="0">
                        <a:solidFill>
                          <a:srgbClr val="3A5B58"/>
                        </a:solidFill>
                        <a:latin typeface="Aptos"/>
                      </a:endParaRPr>
                    </a:p>
                  </a:txBody>
                  <a:tcPr marL="54864" marR="45720" marT="22860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5B58"/>
                          </a:solidFill>
                          <a:latin typeface="Aptos"/>
                        </a:rPr>
                        <a:t>Better vaccination compliance</a:t>
                      </a:r>
                      <a:endParaRPr sz="1000" b="0">
                        <a:solidFill>
                          <a:srgbClr val="3A5B58"/>
                        </a:solidFill>
                        <a:latin typeface="Aptos"/>
                      </a:endParaRPr>
                    </a:p>
                  </a:txBody>
                  <a:tcPr marL="54864" marR="45720" marT="22860" marB="18288" anchor="ctr">
                    <a:solidFill>
                      <a:srgbClr val="FFFFFF"/>
                    </a:solidFill>
                  </a:tcPr>
                </a:tc>
              </a:tr>
              <a:tr h="420623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5D57"/>
                          </a:solidFill>
                          <a:latin typeface="Aptos"/>
                        </a:rPr>
                        <a:t>Digitalization of Home-Based Records (2023)</a:t>
                      </a:r>
                      <a:endParaRPr sz="1000" b="0">
                        <a:solidFill>
                          <a:srgbClr val="225D57"/>
                        </a:solidFill>
                        <a:latin typeface="Aptos"/>
                      </a:endParaRPr>
                    </a:p>
                  </a:txBody>
                  <a:tcPr marL="54864" marR="45720" marT="22860" marB="18288" anchor="ctr">
                    <a:solidFill>
                      <a:srgbClr val="EEF5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5B58"/>
                          </a:solidFill>
                          <a:latin typeface="Aptos"/>
                        </a:rPr>
                        <a:t>Geldof et al., 2023</a:t>
                      </a:r>
                      <a:endParaRPr sz="1000" b="0">
                        <a:solidFill>
                          <a:srgbClr val="3A5B58"/>
                        </a:solidFill>
                        <a:latin typeface="Aptos"/>
                      </a:endParaRPr>
                    </a:p>
                  </a:txBody>
                  <a:tcPr marL="54864" marR="45720" marT="22860" marB="18288" anchor="ctr">
                    <a:solidFill>
                      <a:srgbClr val="EEF5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5B58"/>
                          </a:solidFill>
                          <a:latin typeface="Aptos"/>
                        </a:rPr>
                        <a:t>Digital home records</a:t>
                      </a:r>
                      <a:endParaRPr sz="1000" b="0">
                        <a:solidFill>
                          <a:srgbClr val="3A5B58"/>
                        </a:solidFill>
                        <a:latin typeface="Aptos"/>
                      </a:endParaRPr>
                    </a:p>
                  </a:txBody>
                  <a:tcPr marL="54864" marR="45720" marT="22860" marB="18288" anchor="ctr">
                    <a:solidFill>
                      <a:srgbClr val="EEF5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5B58"/>
                          </a:solidFill>
                          <a:latin typeface="Aptos"/>
                        </a:rPr>
                        <a:t>Improved record accessibility</a:t>
                      </a:r>
                      <a:endParaRPr sz="1000" b="0">
                        <a:solidFill>
                          <a:srgbClr val="3A5B58"/>
                        </a:solidFill>
                        <a:latin typeface="Aptos"/>
                      </a:endParaRPr>
                    </a:p>
                  </a:txBody>
                  <a:tcPr marL="54864" marR="45720" marT="22860" marB="18288" anchor="ctr">
                    <a:solidFill>
                      <a:srgbClr val="EEF5F4"/>
                    </a:solidFill>
                  </a:tcPr>
                </a:tc>
              </a:tr>
              <a:tr h="420623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5D57"/>
                          </a:solidFill>
                          <a:latin typeface="Aptos"/>
                        </a:rPr>
                        <a:t>Digital Health Technologies for MCH (2023)</a:t>
                      </a:r>
                      <a:endParaRPr sz="1000" b="0">
                        <a:solidFill>
                          <a:srgbClr val="225D57"/>
                        </a:solidFill>
                        <a:latin typeface="Aptos"/>
                      </a:endParaRPr>
                    </a:p>
                  </a:txBody>
                  <a:tcPr marL="54864" marR="45720" marT="22860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5B58"/>
                          </a:solidFill>
                          <a:latin typeface="Aptos"/>
                        </a:rPr>
                        <a:t>Till et al., 2023</a:t>
                      </a:r>
                      <a:endParaRPr sz="1000" b="0">
                        <a:solidFill>
                          <a:srgbClr val="3A5B58"/>
                        </a:solidFill>
                        <a:latin typeface="Aptos"/>
                      </a:endParaRPr>
                    </a:p>
                  </a:txBody>
                  <a:tcPr marL="54864" marR="45720" marT="22860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5B58"/>
                          </a:solidFill>
                          <a:latin typeface="Aptos"/>
                        </a:rPr>
                        <a:t>Digital / mobile health</a:t>
                      </a:r>
                      <a:endParaRPr sz="1000" b="0">
                        <a:solidFill>
                          <a:srgbClr val="3A5B58"/>
                        </a:solidFill>
                        <a:latin typeface="Aptos"/>
                      </a:endParaRPr>
                    </a:p>
                  </a:txBody>
                  <a:tcPr marL="54864" marR="45720" marT="22860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5B58"/>
                          </a:solidFill>
                          <a:latin typeface="Aptos"/>
                        </a:rPr>
                        <a:t>Enhanced maternal &amp; child care</a:t>
                      </a:r>
                      <a:endParaRPr sz="1000" b="0">
                        <a:solidFill>
                          <a:srgbClr val="3A5B58"/>
                        </a:solidFill>
                        <a:latin typeface="Aptos"/>
                      </a:endParaRPr>
                    </a:p>
                  </a:txBody>
                  <a:tcPr marL="54864" marR="45720" marT="22860" marB="18288" anchor="ctr">
                    <a:solidFill>
                      <a:srgbClr val="FFFFFF"/>
                    </a:solidFill>
                  </a:tcPr>
                </a:tc>
              </a:tr>
              <a:tr h="420623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5D57"/>
                          </a:solidFill>
                          <a:latin typeface="Aptos"/>
                        </a:rPr>
                        <a:t>Antenatal Care Management Platform (2023)</a:t>
                      </a:r>
                      <a:endParaRPr sz="1000" b="0">
                        <a:solidFill>
                          <a:srgbClr val="225D57"/>
                        </a:solidFill>
                        <a:latin typeface="Aptos"/>
                      </a:endParaRPr>
                    </a:p>
                  </a:txBody>
                  <a:tcPr marL="54864" marR="45720" marT="22860" marB="18288" anchor="ctr">
                    <a:solidFill>
                      <a:srgbClr val="EEF5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5B58"/>
                          </a:solidFill>
                          <a:latin typeface="Aptos"/>
                        </a:rPr>
                        <a:t>Aliyi et al., 2023</a:t>
                      </a:r>
                      <a:endParaRPr sz="1000" b="0">
                        <a:solidFill>
                          <a:srgbClr val="3A5B58"/>
                        </a:solidFill>
                        <a:latin typeface="Aptos"/>
                      </a:endParaRPr>
                    </a:p>
                  </a:txBody>
                  <a:tcPr marL="54864" marR="45720" marT="22860" marB="18288" anchor="ctr">
                    <a:solidFill>
                      <a:srgbClr val="EEF5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5B58"/>
                          </a:solidFill>
                          <a:latin typeface="Aptos"/>
                        </a:rPr>
                        <a:t>ANC platform</a:t>
                      </a:r>
                      <a:endParaRPr sz="1000" b="0">
                        <a:solidFill>
                          <a:srgbClr val="3A5B58"/>
                        </a:solidFill>
                        <a:latin typeface="Aptos"/>
                      </a:endParaRPr>
                    </a:p>
                  </a:txBody>
                  <a:tcPr marL="54864" marR="45720" marT="22860" marB="18288" anchor="ctr">
                    <a:solidFill>
                      <a:srgbClr val="EEF5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5B58"/>
                          </a:solidFill>
                          <a:latin typeface="Aptos"/>
                        </a:rPr>
                        <a:t>Improved ANC tracking</a:t>
                      </a:r>
                      <a:endParaRPr sz="1000" b="0">
                        <a:solidFill>
                          <a:srgbClr val="3A5B58"/>
                        </a:solidFill>
                        <a:latin typeface="Aptos"/>
                      </a:endParaRPr>
                    </a:p>
                  </a:txBody>
                  <a:tcPr marL="54864" marR="45720" marT="22860" marB="18288" anchor="ctr">
                    <a:solidFill>
                      <a:srgbClr val="EEF5F4"/>
                    </a:solidFill>
                  </a:tcPr>
                </a:tc>
              </a:tr>
              <a:tr h="420623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5D57"/>
                          </a:solidFill>
                          <a:latin typeface="Aptos"/>
                        </a:rPr>
                        <a:t>Vaccidoc (2025)</a:t>
                      </a:r>
                      <a:endParaRPr sz="1000" b="0">
                        <a:solidFill>
                          <a:srgbClr val="225D57"/>
                        </a:solidFill>
                        <a:latin typeface="Aptos"/>
                      </a:endParaRPr>
                    </a:p>
                  </a:txBody>
                  <a:tcPr marL="54864" marR="45720" marT="22860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5B58"/>
                          </a:solidFill>
                          <a:latin typeface="Aptos"/>
                        </a:rPr>
                        <a:t>Kajale et al., 2025</a:t>
                      </a:r>
                      <a:endParaRPr sz="1000" b="0">
                        <a:solidFill>
                          <a:srgbClr val="3A5B58"/>
                        </a:solidFill>
                        <a:latin typeface="Aptos"/>
                      </a:endParaRPr>
                    </a:p>
                  </a:txBody>
                  <a:tcPr marL="54864" marR="45720" marT="22860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5B58"/>
                          </a:solidFill>
                          <a:latin typeface="Aptos"/>
                        </a:rPr>
                        <a:t>Web-based reminders</a:t>
                      </a:r>
                      <a:endParaRPr sz="1000" b="0">
                        <a:solidFill>
                          <a:srgbClr val="3A5B58"/>
                        </a:solidFill>
                        <a:latin typeface="Aptos"/>
                      </a:endParaRPr>
                    </a:p>
                  </a:txBody>
                  <a:tcPr marL="54864" marR="45720" marT="22860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5B58"/>
                          </a:solidFill>
                          <a:latin typeface="Aptos"/>
                        </a:rPr>
                        <a:t>Reduced missed vaccinations</a:t>
                      </a:r>
                      <a:endParaRPr sz="1000" b="0">
                        <a:solidFill>
                          <a:srgbClr val="3A5B58"/>
                        </a:solidFill>
                        <a:latin typeface="Aptos"/>
                      </a:endParaRPr>
                    </a:p>
                  </a:txBody>
                  <a:tcPr marL="54864" marR="45720" marT="22860" marB="18288" anchor="ctr">
                    <a:solidFill>
                      <a:srgbClr val="FFFFFF"/>
                    </a:solidFill>
                  </a:tcPr>
                </a:tc>
              </a:tr>
              <a:tr h="420623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5D57"/>
                          </a:solidFill>
                          <a:latin typeface="Aptos"/>
                        </a:rPr>
                        <a:t>Digital Health Platform for Maternal Health (2025)</a:t>
                      </a:r>
                      <a:endParaRPr sz="1000" b="0">
                        <a:solidFill>
                          <a:srgbClr val="225D57"/>
                        </a:solidFill>
                        <a:latin typeface="Aptos"/>
                      </a:endParaRPr>
                    </a:p>
                  </a:txBody>
                  <a:tcPr marL="54864" marR="45720" marT="22860" marB="18288" anchor="ctr">
                    <a:solidFill>
                      <a:srgbClr val="EEF5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5B58"/>
                          </a:solidFill>
                          <a:latin typeface="Aptos"/>
                        </a:rPr>
                        <a:t>Ajayi, 2025</a:t>
                      </a:r>
                      <a:endParaRPr sz="1000" b="0">
                        <a:solidFill>
                          <a:srgbClr val="3A5B58"/>
                        </a:solidFill>
                        <a:latin typeface="Aptos"/>
                      </a:endParaRPr>
                    </a:p>
                  </a:txBody>
                  <a:tcPr marL="54864" marR="45720" marT="22860" marB="18288" anchor="ctr">
                    <a:solidFill>
                      <a:srgbClr val="EEF5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5B58"/>
                          </a:solidFill>
                          <a:latin typeface="Aptos"/>
                        </a:rPr>
                        <a:t>Digital maternal health</a:t>
                      </a:r>
                      <a:endParaRPr sz="1000" b="0">
                        <a:solidFill>
                          <a:srgbClr val="3A5B58"/>
                        </a:solidFill>
                        <a:latin typeface="Aptos"/>
                      </a:endParaRPr>
                    </a:p>
                  </a:txBody>
                  <a:tcPr marL="54864" marR="45720" marT="22860" marB="18288" anchor="ctr">
                    <a:solidFill>
                      <a:srgbClr val="EEF5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A5B58"/>
                          </a:solidFill>
                          <a:latin typeface="Aptos"/>
                        </a:rPr>
                        <a:t>Enhanced maternal care</a:t>
                      </a:r>
                      <a:endParaRPr sz="1000" b="0">
                        <a:solidFill>
                          <a:srgbClr val="3A5B58"/>
                        </a:solidFill>
                        <a:latin typeface="Aptos"/>
                      </a:endParaRPr>
                    </a:p>
                  </a:txBody>
                  <a:tcPr marL="54864" marR="45720" marT="22860" marB="18288" anchor="ctr">
                    <a:solidFill>
                      <a:srgbClr val="EEF5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31089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E27B5B"/>
                </a:solidFill>
                <a:latin typeface="Aptos"/>
              </a:rPr>
              <a:t>09  •  TOOLSET</a:t>
            </a:r>
            <a:endParaRPr sz="950" b="1" i="0">
              <a:solidFill>
                <a:srgbClr val="E27B5B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14984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0B5B52"/>
                </a:solidFill>
                <a:latin typeface="Georgia" panose="02040502050405020303"/>
              </a:rPr>
              <a:t>Technologies Used</a:t>
            </a:r>
            <a:endParaRPr sz="2700" b="1" i="0">
              <a:solidFill>
                <a:srgbClr val="0B5B52"/>
              </a:solidFill>
              <a:latin typeface="Georgia" panose="020405020504050203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64240" y="347472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50" b="1" i="0">
                <a:solidFill>
                  <a:srgbClr val="646F6B"/>
                </a:solidFill>
                <a:latin typeface="Aptos"/>
              </a:rPr>
              <a:t>10</a:t>
            </a:r>
            <a:endParaRPr sz="950" b="1" i="0">
              <a:solidFill>
                <a:srgbClr val="646F6B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8368" y="1261872"/>
            <a:ext cx="658368" cy="41148"/>
          </a:xfrm>
          <a:prstGeom prst="rect">
            <a:avLst/>
          </a:prstGeom>
          <a:solidFill>
            <a:srgbClr val="E27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72768"/>
            <a:ext cx="5074920" cy="1097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96112" y="1737360"/>
            <a:ext cx="393192" cy="393192"/>
          </a:xfrm>
          <a:prstGeom prst="ellipse">
            <a:avLst/>
          </a:prstGeom>
          <a:solidFill>
            <a:srgbClr val="D3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33372"/>
            <a:ext cx="393192" cy="128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50" b="1" i="0">
                <a:solidFill>
                  <a:srgbClr val="0B5B52"/>
                </a:solidFill>
                <a:latin typeface="Aptos"/>
              </a:rPr>
              <a:t>01</a:t>
            </a:r>
            <a:endParaRPr sz="85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99032" y="1737360"/>
            <a:ext cx="4224528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50" b="1" i="0">
                <a:solidFill>
                  <a:srgbClr val="0B5B52"/>
                </a:solidFill>
                <a:latin typeface="Aptos"/>
              </a:rPr>
              <a:t>Frontend</a:t>
            </a:r>
            <a:endParaRPr sz="145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99032" y="2157984"/>
            <a:ext cx="4224528" cy="38404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2D3734"/>
                </a:solidFill>
                <a:latin typeface="Aptos"/>
              </a:rPr>
              <a:t>HTML • CSS • JavaScript • Bootstrap 5</a:t>
            </a:r>
            <a:endParaRPr sz="1200" b="0" i="0">
              <a:solidFill>
                <a:srgbClr val="2D3734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263640" y="1572768"/>
            <a:ext cx="5074920" cy="1097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28231" y="1737360"/>
            <a:ext cx="393192" cy="393192"/>
          </a:xfrm>
          <a:prstGeom prst="ellipse">
            <a:avLst/>
          </a:prstGeom>
          <a:solidFill>
            <a:srgbClr val="D3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1833372"/>
            <a:ext cx="393192" cy="128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50" b="1" i="0">
                <a:solidFill>
                  <a:srgbClr val="0B5B52"/>
                </a:solidFill>
                <a:latin typeface="Aptos"/>
              </a:rPr>
              <a:t>02</a:t>
            </a:r>
            <a:endParaRPr sz="85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931152" y="1737360"/>
            <a:ext cx="4224528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50" b="1" i="0">
                <a:solidFill>
                  <a:srgbClr val="0B5B52"/>
                </a:solidFill>
                <a:latin typeface="Aptos"/>
              </a:rPr>
              <a:t>Backend</a:t>
            </a:r>
            <a:endParaRPr sz="145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931152" y="2157984"/>
            <a:ext cx="4224528" cy="38404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2D3734"/>
                </a:solidFill>
                <a:latin typeface="Aptos"/>
              </a:rPr>
              <a:t>Python • Django</a:t>
            </a:r>
            <a:endParaRPr sz="1200" b="0" i="0">
              <a:solidFill>
                <a:srgbClr val="2D3734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31520" y="2962656"/>
            <a:ext cx="5074920" cy="1097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96112" y="3127248"/>
            <a:ext cx="393192" cy="393192"/>
          </a:xfrm>
          <a:prstGeom prst="ellipse">
            <a:avLst/>
          </a:prstGeom>
          <a:solidFill>
            <a:srgbClr val="D3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3223260"/>
            <a:ext cx="393192" cy="128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50" b="1" i="0">
                <a:solidFill>
                  <a:srgbClr val="0B5B52"/>
                </a:solidFill>
                <a:latin typeface="Aptos"/>
              </a:rPr>
              <a:t>03</a:t>
            </a:r>
            <a:endParaRPr sz="85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399032" y="3127248"/>
            <a:ext cx="4224528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50" b="1" i="0">
                <a:solidFill>
                  <a:srgbClr val="0B5B52"/>
                </a:solidFill>
                <a:latin typeface="Aptos"/>
              </a:rPr>
              <a:t>Database</a:t>
            </a:r>
            <a:endParaRPr sz="145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399032" y="3547872"/>
            <a:ext cx="4224528" cy="38404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2D3734"/>
                </a:solidFill>
                <a:latin typeface="Aptos"/>
              </a:rPr>
              <a:t>SQLite</a:t>
            </a:r>
            <a:endParaRPr sz="1200" b="0" i="0">
              <a:solidFill>
                <a:srgbClr val="2D3734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263640" y="2962656"/>
            <a:ext cx="5074920" cy="1097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28231" y="3127248"/>
            <a:ext cx="393192" cy="393192"/>
          </a:xfrm>
          <a:prstGeom prst="ellipse">
            <a:avLst/>
          </a:prstGeom>
          <a:solidFill>
            <a:srgbClr val="D3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1" y="3223260"/>
            <a:ext cx="393192" cy="128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50" b="1" i="0">
                <a:solidFill>
                  <a:srgbClr val="0B5B52"/>
                </a:solidFill>
                <a:latin typeface="Aptos"/>
              </a:rPr>
              <a:t>04</a:t>
            </a:r>
            <a:endParaRPr sz="85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931152" y="3127248"/>
            <a:ext cx="4224528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50" b="1" i="0">
                <a:solidFill>
                  <a:srgbClr val="0B5B52"/>
                </a:solidFill>
                <a:latin typeface="Aptos"/>
              </a:rPr>
              <a:t>Visualization</a:t>
            </a:r>
            <a:endParaRPr sz="145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931152" y="3547872"/>
            <a:ext cx="4224528" cy="38404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2D3734"/>
                </a:solidFill>
                <a:latin typeface="Aptos"/>
              </a:rPr>
              <a:t>Chart.js</a:t>
            </a:r>
            <a:endParaRPr sz="1200" b="0" i="0">
              <a:solidFill>
                <a:srgbClr val="2D3734"/>
              </a:solidFill>
              <a:latin typeface="Apto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31520" y="4352544"/>
            <a:ext cx="5074920" cy="1097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96112" y="4517136"/>
            <a:ext cx="393192" cy="393192"/>
          </a:xfrm>
          <a:prstGeom prst="ellipse">
            <a:avLst/>
          </a:prstGeom>
          <a:solidFill>
            <a:srgbClr val="D3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4613148"/>
            <a:ext cx="393192" cy="128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50" b="1" i="0">
                <a:solidFill>
                  <a:srgbClr val="0B5B52"/>
                </a:solidFill>
                <a:latin typeface="Aptos"/>
              </a:rPr>
              <a:t>05</a:t>
            </a:r>
            <a:endParaRPr sz="85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399032" y="4517136"/>
            <a:ext cx="4224528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50" b="1" i="0">
                <a:solidFill>
                  <a:srgbClr val="0B5B52"/>
                </a:solidFill>
                <a:latin typeface="Aptos"/>
              </a:rPr>
              <a:t>Event-driven logic</a:t>
            </a:r>
            <a:endParaRPr sz="145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399032" y="4937759"/>
            <a:ext cx="4224528" cy="38404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2D3734"/>
                </a:solidFill>
                <a:latin typeface="Aptos"/>
              </a:rPr>
              <a:t>Django Signals</a:t>
            </a:r>
            <a:endParaRPr sz="1200" b="0" i="0">
              <a:solidFill>
                <a:srgbClr val="2D3734"/>
              </a:solidFill>
              <a:latin typeface="Aptos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263640" y="4352544"/>
            <a:ext cx="5074920" cy="1097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28231" y="4517136"/>
            <a:ext cx="393192" cy="393192"/>
          </a:xfrm>
          <a:prstGeom prst="ellipse">
            <a:avLst/>
          </a:prstGeom>
          <a:solidFill>
            <a:srgbClr val="D3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28231" y="4613148"/>
            <a:ext cx="393192" cy="128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50" b="1" i="0">
                <a:solidFill>
                  <a:srgbClr val="0B5B52"/>
                </a:solidFill>
                <a:latin typeface="Aptos"/>
              </a:rPr>
              <a:t>06</a:t>
            </a:r>
            <a:endParaRPr sz="85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931152" y="4517136"/>
            <a:ext cx="4224528" cy="25844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lang="en-US" sz="1450" b="1" i="0">
                <a:solidFill>
                  <a:srgbClr val="0B5B52"/>
                </a:solidFill>
                <a:latin typeface="Aptos"/>
              </a:rPr>
              <a:t>Application Model</a:t>
            </a:r>
            <a:endParaRPr lang="en-US" sz="145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931152" y="4937759"/>
            <a:ext cx="4224528" cy="219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2D3734"/>
                </a:solidFill>
                <a:latin typeface="Aptos"/>
              </a:rPr>
              <a:t>Role-based modular </a:t>
            </a:r>
            <a:r>
              <a:rPr lang="en-US" sz="1200" b="0" i="0">
                <a:solidFill>
                  <a:srgbClr val="2D3734"/>
                </a:solidFill>
                <a:latin typeface="Aptos"/>
              </a:rPr>
              <a:t>architecture</a:t>
            </a:r>
            <a:endParaRPr lang="en-US" sz="1200" b="0" i="0">
              <a:solidFill>
                <a:srgbClr val="2D3734"/>
              </a:solidFill>
              <a:latin typeface="Apto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22960" y="5650992"/>
            <a:ext cx="1033272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0B5B52"/>
                </a:solidFill>
                <a:latin typeface="Aptos"/>
              </a:rPr>
              <a:t>The implementation uses open-source web technologies and a modular Django structure.</a:t>
            </a:r>
            <a:endParaRPr sz="140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58368" y="6537960"/>
            <a:ext cx="457200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50" b="1" i="0">
                <a:solidFill>
                  <a:srgbClr val="646F6B"/>
                </a:solidFill>
                <a:latin typeface="Aptos"/>
              </a:rPr>
              <a:t>MARGAM  •  MCA FINAL YEAR MINI PROJECT</a:t>
            </a:r>
            <a:endParaRPr sz="750" b="1" i="0">
              <a:solidFill>
                <a:srgbClr val="646F6B"/>
              </a:solidFill>
              <a:latin typeface="Apto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1064240" y="6519672"/>
            <a:ext cx="4572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646F6B"/>
                </a:solidFill>
                <a:latin typeface="Aptos"/>
              </a:rPr>
              <a:t>10</a:t>
            </a:r>
            <a:endParaRPr sz="800" b="1" i="0">
              <a:solidFill>
                <a:srgbClr val="646F6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31089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E27B5B"/>
                </a:solidFill>
                <a:latin typeface="Aptos"/>
              </a:rPr>
              <a:t>10  •  ENVIRONMENT</a:t>
            </a:r>
            <a:endParaRPr sz="950" b="1" i="0">
              <a:solidFill>
                <a:srgbClr val="E27B5B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14984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0B5B52"/>
                </a:solidFill>
                <a:latin typeface="Georgia" panose="02040502050405020303"/>
              </a:rPr>
              <a:t>Software &amp; Hardware Requirements</a:t>
            </a:r>
            <a:endParaRPr sz="2700" b="1" i="0">
              <a:solidFill>
                <a:srgbClr val="0B5B52"/>
              </a:solidFill>
              <a:latin typeface="Georgia" panose="020405020504050203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64240" y="347472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50" b="1" i="0">
                <a:solidFill>
                  <a:srgbClr val="646F6B"/>
                </a:solidFill>
                <a:latin typeface="Aptos"/>
              </a:rPr>
              <a:t>11</a:t>
            </a:r>
            <a:endParaRPr sz="950" b="1" i="0">
              <a:solidFill>
                <a:srgbClr val="646F6B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8368" y="1261872"/>
            <a:ext cx="658368" cy="41148"/>
          </a:xfrm>
          <a:prstGeom prst="rect">
            <a:avLst/>
          </a:prstGeom>
          <a:solidFill>
            <a:srgbClr val="E27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9808" y="1600200"/>
            <a:ext cx="5166360" cy="3246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1764792"/>
            <a:ext cx="393192" cy="393192"/>
          </a:xfrm>
          <a:prstGeom prst="ellipse">
            <a:avLst/>
          </a:prstGeom>
          <a:solidFill>
            <a:srgbClr val="D3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60804"/>
            <a:ext cx="393192" cy="128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50" b="1" i="0">
                <a:solidFill>
                  <a:srgbClr val="0B5B52"/>
                </a:solidFill>
                <a:latin typeface="Aptos"/>
              </a:rPr>
              <a:t>SW</a:t>
            </a:r>
            <a:endParaRPr sz="85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17319" y="1764792"/>
            <a:ext cx="4315968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50" b="1" i="0">
                <a:solidFill>
                  <a:srgbClr val="0B5B52"/>
                </a:solidFill>
                <a:latin typeface="Aptos"/>
              </a:rPr>
              <a:t>Software Requirements</a:t>
            </a:r>
            <a:endParaRPr sz="145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17319" y="2185416"/>
            <a:ext cx="4315968" cy="14331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D3734"/>
                </a:solidFill>
                <a:latin typeface="Aptos"/>
              </a:rPr>
              <a:t>• Python / Django runtime
• SQLite database
• Modern web browser
• HTML, CSS, JavaScript &amp; Bootstrap support
• Chart.js for dashboard visualization</a:t>
            </a:r>
            <a:endParaRPr sz="1400" b="0" i="0">
              <a:solidFill>
                <a:srgbClr val="2D3734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263640" y="1600200"/>
            <a:ext cx="5166360" cy="3246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28231" y="1764792"/>
            <a:ext cx="393192" cy="393192"/>
          </a:xfrm>
          <a:prstGeom prst="ellipse">
            <a:avLst/>
          </a:prstGeom>
          <a:solidFill>
            <a:srgbClr val="D3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1860804"/>
            <a:ext cx="393192" cy="128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50" b="1" i="0">
                <a:solidFill>
                  <a:srgbClr val="0B5B52"/>
                </a:solidFill>
                <a:latin typeface="Aptos"/>
              </a:rPr>
              <a:t>HW</a:t>
            </a:r>
            <a:endParaRPr sz="85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931152" y="1764792"/>
            <a:ext cx="4315968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50" b="1" i="0">
                <a:solidFill>
                  <a:srgbClr val="0B5B52"/>
                </a:solidFill>
                <a:latin typeface="Aptos"/>
              </a:rPr>
              <a:t>Hardware Requirements</a:t>
            </a:r>
            <a:endParaRPr sz="145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931152" y="2185416"/>
            <a:ext cx="4315968" cy="14331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D3734"/>
                </a:solidFill>
                <a:latin typeface="Aptos"/>
              </a:rPr>
              <a:t>• Standard development laptop / desktop
• Sufficient RAM and storage for the development environment
• Network access when the application is hosted or accessed remotely</a:t>
            </a:r>
            <a:endParaRPr sz="1400" b="0" i="0">
              <a:solidFill>
                <a:srgbClr val="2D3734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526280" y="5230368"/>
            <a:ext cx="2651760" cy="310896"/>
          </a:xfrm>
          <a:prstGeom prst="roundRect">
            <a:avLst/>
          </a:prstGeom>
          <a:solidFill>
            <a:srgbClr val="E5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5289804"/>
            <a:ext cx="26517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80" b="1" i="0">
                <a:solidFill>
                  <a:srgbClr val="0B5B52"/>
                </a:solidFill>
                <a:latin typeface="Aptos"/>
              </a:rPr>
              <a:t>DEVELOPMENT ENVIRONMENT</a:t>
            </a:r>
            <a:endParaRPr sz="88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2960" y="5806440"/>
            <a:ext cx="1042416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646F6B"/>
                </a:solidFill>
                <a:latin typeface="Aptos"/>
              </a:rPr>
              <a:t>The project is designed to run as a conventional Django web application without specialized hardware.</a:t>
            </a:r>
            <a:endParaRPr sz="1200" b="0" i="1">
              <a:solidFill>
                <a:srgbClr val="646F6B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58368" y="6537960"/>
            <a:ext cx="457200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50" b="1" i="0">
                <a:solidFill>
                  <a:srgbClr val="646F6B"/>
                </a:solidFill>
                <a:latin typeface="Aptos"/>
              </a:rPr>
              <a:t>MARGAM  •  MCA FINAL YEAR MINI PROJECT</a:t>
            </a:r>
            <a:endParaRPr sz="750" b="1" i="0">
              <a:solidFill>
                <a:srgbClr val="646F6B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064240" y="6519672"/>
            <a:ext cx="4572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646F6B"/>
                </a:solidFill>
                <a:latin typeface="Aptos"/>
              </a:rPr>
              <a:t>11</a:t>
            </a:r>
            <a:endParaRPr sz="800" b="1" i="0">
              <a:solidFill>
                <a:srgbClr val="646F6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31089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E27B5B"/>
                </a:solidFill>
                <a:latin typeface="Aptos"/>
              </a:rPr>
              <a:t>11  •  UNDER THE HOOD</a:t>
            </a:r>
            <a:endParaRPr sz="950" b="1" i="0">
              <a:solidFill>
                <a:srgbClr val="E27B5B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14984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0B5B52"/>
                </a:solidFill>
                <a:latin typeface="Georgia" panose="02040502050405020303"/>
              </a:rPr>
              <a:t>System Architecture</a:t>
            </a:r>
            <a:endParaRPr sz="2700" b="1" i="0">
              <a:solidFill>
                <a:srgbClr val="0B5B52"/>
              </a:solidFill>
              <a:latin typeface="Georgia" panose="020405020504050203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64240" y="347472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50" b="1" i="0">
                <a:solidFill>
                  <a:srgbClr val="646F6B"/>
                </a:solidFill>
                <a:latin typeface="Aptos"/>
              </a:rPr>
              <a:t>12</a:t>
            </a:r>
            <a:endParaRPr sz="950" b="1" i="0">
              <a:solidFill>
                <a:srgbClr val="646F6B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8368" y="1261872"/>
            <a:ext cx="658368" cy="41148"/>
          </a:xfrm>
          <a:prstGeom prst="rect">
            <a:avLst/>
          </a:prstGeom>
          <a:solidFill>
            <a:srgbClr val="E27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6537960"/>
            <a:ext cx="457200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50" b="1" i="0">
                <a:solidFill>
                  <a:srgbClr val="646F6B"/>
                </a:solidFill>
                <a:latin typeface="Aptos"/>
              </a:rPr>
              <a:t>MARGAM  •  MCA FINAL YEAR MINI PROJECT</a:t>
            </a:r>
            <a:endParaRPr sz="750" b="1" i="0">
              <a:solidFill>
                <a:srgbClr val="646F6B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1064240" y="6519672"/>
            <a:ext cx="4572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646F6B"/>
                </a:solidFill>
                <a:latin typeface="Aptos"/>
              </a:rPr>
              <a:t>12</a:t>
            </a:r>
            <a:endParaRPr sz="800" b="1" i="0">
              <a:solidFill>
                <a:srgbClr val="646F6B"/>
              </a:solidFill>
              <a:latin typeface="Aptos"/>
            </a:endParaRPr>
          </a:p>
        </p:txBody>
      </p:sp>
      <p:pic>
        <p:nvPicPr>
          <p:cNvPr id="84" name="Image 36" descr="C:/Users/acer/Documents/margam_architecture.pngmargam_architecture"/>
          <p:cNvPicPr/>
          <p:nvPr/>
        </p:nvPicPr>
        <p:blipFill>
          <a:blip r:embed="rId1"/>
          <a:srcRect l="-638" r="-320"/>
          <a:stretch>
            <a:fillRect/>
          </a:stretch>
        </p:blipFill>
        <p:spPr>
          <a:xfrm>
            <a:off x="1835150" y="1270635"/>
            <a:ext cx="8359140" cy="502094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31089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E27B5B"/>
                </a:solidFill>
                <a:latin typeface="Aptos"/>
              </a:rPr>
              <a:t>12  •  SYSTEM DESIGN</a:t>
            </a:r>
            <a:endParaRPr sz="950" b="1" i="0">
              <a:solidFill>
                <a:srgbClr val="E27B5B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14984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0B5B52"/>
                </a:solidFill>
                <a:latin typeface="Georgia" panose="02040502050405020303"/>
              </a:rPr>
              <a:t>Design Diagrams</a:t>
            </a:r>
            <a:endParaRPr sz="2700" b="1" i="0">
              <a:solidFill>
                <a:srgbClr val="0B5B52"/>
              </a:solidFill>
              <a:latin typeface="Georgia" panose="020405020504050203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64240" y="347472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50" b="1" i="0">
                <a:solidFill>
                  <a:srgbClr val="646F6B"/>
                </a:solidFill>
                <a:latin typeface="Aptos"/>
              </a:rPr>
              <a:t>13</a:t>
            </a:r>
            <a:endParaRPr sz="950" b="1" i="0">
              <a:solidFill>
                <a:srgbClr val="646F6B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8368" y="1261872"/>
            <a:ext cx="658368" cy="41148"/>
          </a:xfrm>
          <a:prstGeom prst="rect">
            <a:avLst/>
          </a:prstGeom>
          <a:solidFill>
            <a:srgbClr val="E27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6537960"/>
            <a:ext cx="457200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50" b="1" i="0">
                <a:solidFill>
                  <a:srgbClr val="646F6B"/>
                </a:solidFill>
                <a:latin typeface="Aptos"/>
              </a:rPr>
              <a:t>MARGAM  •  MCA FINAL YEAR MINI PROJECT</a:t>
            </a:r>
            <a:endParaRPr sz="750" b="1" i="0">
              <a:solidFill>
                <a:srgbClr val="646F6B"/>
              </a:solidFill>
              <a:latin typeface="Aptos"/>
            </a:endParaRPr>
          </a:p>
        </p:txBody>
      </p:sp>
      <p:pic>
        <p:nvPicPr>
          <p:cNvPr id="12" name="Picture 11" descr="editedlevel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2710" y="1714500"/>
            <a:ext cx="8886825" cy="4133850"/>
          </a:xfrm>
          <a:prstGeom prst="rect">
            <a:avLst/>
          </a:prstGeom>
        </p:spPr>
      </p:pic>
      <p:sp>
        <p:nvSpPr>
          <p:cNvPr id="13" name="Text 2"/>
          <p:cNvSpPr/>
          <p:nvPr/>
        </p:nvSpPr>
        <p:spPr>
          <a:xfrm>
            <a:off x="3633470" y="1084580"/>
            <a:ext cx="8557895" cy="4629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464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Data Flow Diagram — Level 0</a:t>
            </a:r>
            <a:endParaRPr lang="en-US" sz="2000" dirty="0"/>
          </a:p>
        </p:txBody>
      </p:sp>
      <p:sp>
        <p:nvSpPr>
          <p:cNvPr id="31" name="TextBox 30"/>
          <p:cNvSpPr txBox="1"/>
          <p:nvPr/>
        </p:nvSpPr>
        <p:spPr>
          <a:xfrm>
            <a:off x="11064240" y="6519672"/>
            <a:ext cx="457200" cy="15811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lang="en-US" sz="800" b="1" i="0">
                <a:solidFill>
                  <a:srgbClr val="646F6B"/>
                </a:solidFill>
                <a:latin typeface="Aptos"/>
              </a:rPr>
              <a:t>13</a:t>
            </a:r>
            <a:endParaRPr lang="en-US" sz="800" b="1" i="0">
              <a:solidFill>
                <a:srgbClr val="646F6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11" y="384207"/>
            <a:ext cx="7314819" cy="27430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623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11" y="621938"/>
            <a:ext cx="10515052" cy="822917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464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Data Flow Diagram — Level 1 (Mother)</a:t>
            </a:r>
            <a:endParaRPr lang="en-US" sz="2800" dirty="0"/>
          </a:p>
        </p:txBody>
      </p:sp>
      <p:pic>
        <p:nvPicPr>
          <p:cNvPr id="10" name="Picture 9" descr="level1moth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1992" y="1634583"/>
            <a:ext cx="9069868" cy="416220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482" y="1634583"/>
            <a:ext cx="814028" cy="297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11064240" y="6519672"/>
            <a:ext cx="457200" cy="15811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lang="en-US" sz="800" b="1" i="0">
                <a:solidFill>
                  <a:srgbClr val="646F6B"/>
                </a:solidFill>
                <a:latin typeface="Aptos"/>
              </a:rPr>
              <a:t>14</a:t>
            </a:r>
            <a:endParaRPr lang="en-US" sz="800" b="1" i="0">
              <a:solidFill>
                <a:srgbClr val="646F6B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8368" y="6537960"/>
            <a:ext cx="457200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50" b="1" i="0">
                <a:solidFill>
                  <a:srgbClr val="646F6B"/>
                </a:solidFill>
                <a:latin typeface="Aptos"/>
              </a:rPr>
              <a:t>MARGAM  •  MCA FINAL YEAR MINI PROJECT</a:t>
            </a:r>
            <a:endParaRPr sz="750" b="1" i="0">
              <a:solidFill>
                <a:srgbClr val="646F6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11" y="384207"/>
            <a:ext cx="7314819" cy="27430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623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11" y="621938"/>
            <a:ext cx="10515052" cy="822917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464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Data Flow Diagram — Level 1 (Government)</a:t>
            </a:r>
            <a:endParaRPr lang="en-US" sz="2800" dirty="0"/>
          </a:p>
        </p:txBody>
      </p:sp>
      <p:pic>
        <p:nvPicPr>
          <p:cNvPr id="10" name="Picture 9" descr="level1gov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536" y="1444728"/>
            <a:ext cx="9721979" cy="447842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269934" y="1444728"/>
            <a:ext cx="814028" cy="297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11064240" y="6519672"/>
            <a:ext cx="457200" cy="15811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lang="en-US" sz="800" b="1" i="0">
                <a:solidFill>
                  <a:srgbClr val="646F6B"/>
                </a:solidFill>
                <a:latin typeface="Aptos"/>
              </a:rPr>
              <a:t>15</a:t>
            </a:r>
            <a:endParaRPr lang="en-US" sz="800" b="1" i="0">
              <a:solidFill>
                <a:srgbClr val="646F6B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8368" y="6537960"/>
            <a:ext cx="457200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50" b="1" i="0">
                <a:solidFill>
                  <a:srgbClr val="646F6B"/>
                </a:solidFill>
                <a:latin typeface="Aptos"/>
              </a:rPr>
              <a:t>MARGAM  •  MCA FINAL YEAR MINI PROJECT</a:t>
            </a:r>
            <a:endParaRPr sz="750" b="1" i="0">
              <a:solidFill>
                <a:srgbClr val="646F6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11" y="384207"/>
            <a:ext cx="7314819" cy="27430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623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11" y="621938"/>
            <a:ext cx="10515052" cy="822917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464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Data Flow Diagram — Level 1 (AshaWorker)</a:t>
            </a:r>
            <a:endParaRPr lang="en-US" sz="2800" dirty="0"/>
          </a:p>
        </p:txBody>
      </p:sp>
      <p:pic>
        <p:nvPicPr>
          <p:cNvPr id="5" name="Picture 4" descr="level1ash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8188" y="1454888"/>
            <a:ext cx="8930175" cy="45089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26107" y="1454888"/>
            <a:ext cx="814028" cy="297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11064240" y="6519672"/>
            <a:ext cx="457200" cy="15811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lang="en-US" sz="800" b="1" i="0">
                <a:solidFill>
                  <a:srgbClr val="646F6B"/>
                </a:solidFill>
                <a:latin typeface="Aptos"/>
              </a:rPr>
              <a:t>16</a:t>
            </a:r>
            <a:endParaRPr lang="en-US" sz="800" b="1" i="0">
              <a:solidFill>
                <a:srgbClr val="646F6B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8368" y="6537960"/>
            <a:ext cx="457200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50" b="1" i="0">
                <a:solidFill>
                  <a:srgbClr val="646F6B"/>
                </a:solidFill>
                <a:latin typeface="Aptos"/>
              </a:rPr>
              <a:t>MARGAM  •  MCA FINAL YEAR MINI PROJECT</a:t>
            </a:r>
            <a:endParaRPr sz="750" b="1" i="0">
              <a:solidFill>
                <a:srgbClr val="646F6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11" y="384207"/>
            <a:ext cx="7314819" cy="27430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623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11" y="621938"/>
            <a:ext cx="10515052" cy="822917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464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Data Flow Diagram — Level 1 (Doctor)</a:t>
            </a:r>
            <a:endParaRPr lang="en-US" sz="2800" dirty="0"/>
          </a:p>
        </p:txBody>
      </p:sp>
      <p:pic>
        <p:nvPicPr>
          <p:cNvPr id="6" name="Picture 5" descr="level1docto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082" y="1444728"/>
            <a:ext cx="9288296" cy="44466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11" y="1444728"/>
            <a:ext cx="814028" cy="297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11064240" y="6519672"/>
            <a:ext cx="457200" cy="15811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lang="en-US" sz="800" b="1" i="0">
                <a:solidFill>
                  <a:srgbClr val="646F6B"/>
                </a:solidFill>
                <a:latin typeface="Aptos"/>
              </a:rPr>
              <a:t>17</a:t>
            </a:r>
            <a:endParaRPr lang="en-US" sz="800" b="1" i="0">
              <a:solidFill>
                <a:srgbClr val="646F6B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8368" y="6537960"/>
            <a:ext cx="457200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50" b="1" i="0">
                <a:solidFill>
                  <a:srgbClr val="646F6B"/>
                </a:solidFill>
                <a:latin typeface="Aptos"/>
              </a:rPr>
              <a:t>MARGAM  •  MCA FINAL YEAR MINI PROJECT</a:t>
            </a:r>
            <a:endParaRPr sz="750" b="1" i="0">
              <a:solidFill>
                <a:srgbClr val="646F6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11" y="384207"/>
            <a:ext cx="7314819" cy="27430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623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11" y="621938"/>
            <a:ext cx="10515052" cy="822917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464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Use Case Diagram</a:t>
            </a:r>
            <a:endParaRPr lang="en-US" sz="2800" dirty="0"/>
          </a:p>
        </p:txBody>
      </p:sp>
      <p:pic>
        <p:nvPicPr>
          <p:cNvPr id="10" name="Picture 9" descr="UseCas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3123" y="1338689"/>
            <a:ext cx="8676823" cy="506195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14352" y="1338689"/>
            <a:ext cx="814028" cy="297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11064240" y="6519672"/>
            <a:ext cx="457200" cy="15811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lang="en-US" sz="800" b="1" i="0">
                <a:solidFill>
                  <a:srgbClr val="646F6B"/>
                </a:solidFill>
                <a:latin typeface="Aptos"/>
              </a:rPr>
              <a:t>18</a:t>
            </a:r>
            <a:endParaRPr lang="en-US" sz="800" b="1" i="0">
              <a:solidFill>
                <a:srgbClr val="646F6B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8368" y="6537960"/>
            <a:ext cx="457200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50" b="1" i="0">
                <a:solidFill>
                  <a:srgbClr val="646F6B"/>
                </a:solidFill>
                <a:latin typeface="Aptos"/>
              </a:rPr>
              <a:t>MARGAM  •  MCA FINAL YEAR MINI PROJECT</a:t>
            </a:r>
            <a:endParaRPr sz="750" b="1" i="0">
              <a:solidFill>
                <a:srgbClr val="646F6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11" y="384207"/>
            <a:ext cx="7314819" cy="27430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623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11" y="621938"/>
            <a:ext cx="10515052" cy="822917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464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ER Diagram</a:t>
            </a:r>
            <a:endParaRPr lang="en-US" sz="2800" dirty="0"/>
          </a:p>
        </p:txBody>
      </p:sp>
      <p:pic>
        <p:nvPicPr>
          <p:cNvPr id="10" name="Picture 9" descr="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8194" y="1444728"/>
            <a:ext cx="9236864" cy="495655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1064240" y="6519672"/>
            <a:ext cx="457200" cy="15811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lang="en-US" sz="800" b="1" i="0">
                <a:solidFill>
                  <a:srgbClr val="646F6B"/>
                </a:solidFill>
                <a:latin typeface="Aptos"/>
              </a:rPr>
              <a:t>19</a:t>
            </a:r>
            <a:endParaRPr lang="en-US" sz="800" b="1" i="0">
              <a:solidFill>
                <a:srgbClr val="646F6B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8368" y="6537960"/>
            <a:ext cx="457200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50" b="1" i="0">
                <a:solidFill>
                  <a:srgbClr val="646F6B"/>
                </a:solidFill>
                <a:latin typeface="Aptos"/>
              </a:rPr>
              <a:t>MARGAM  •  MCA FINAL YEAR MINI PROJECT</a:t>
            </a:r>
            <a:endParaRPr sz="750" b="1" i="0">
              <a:solidFill>
                <a:srgbClr val="646F6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11" y="384207"/>
            <a:ext cx="7314819" cy="27430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623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11" y="621938"/>
            <a:ext cx="10515052" cy="822917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464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Class Diagram</a:t>
            </a:r>
            <a:endParaRPr lang="en-US" sz="2800" dirty="0"/>
          </a:p>
        </p:txBody>
      </p:sp>
      <p:pic>
        <p:nvPicPr>
          <p:cNvPr id="10" name="Picture 9" descr="classdiagr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460" y="1444728"/>
            <a:ext cx="10192489" cy="5032113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1064240" y="6519672"/>
            <a:ext cx="457200" cy="15811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lang="en-US" sz="800" b="1" i="0">
                <a:solidFill>
                  <a:srgbClr val="646F6B"/>
                </a:solidFill>
                <a:latin typeface="Aptos"/>
              </a:rPr>
              <a:t>20</a:t>
            </a:r>
            <a:endParaRPr lang="en-US" sz="800" b="1" i="0">
              <a:solidFill>
                <a:srgbClr val="646F6B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8368" y="6537960"/>
            <a:ext cx="457200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50" b="1" i="0">
                <a:solidFill>
                  <a:srgbClr val="646F6B"/>
                </a:solidFill>
                <a:latin typeface="Aptos"/>
              </a:rPr>
              <a:t>MARGAM  •  MCA FINAL YEAR MINI PROJECT</a:t>
            </a:r>
            <a:endParaRPr sz="750" b="1" i="0">
              <a:solidFill>
                <a:srgbClr val="646F6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11" y="384207"/>
            <a:ext cx="7314819" cy="27430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623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11" y="621938"/>
            <a:ext cx="10515052" cy="822917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464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State Diagram</a:t>
            </a:r>
            <a:endParaRPr lang="en-US" sz="2800" dirty="0"/>
          </a:p>
        </p:txBody>
      </p:sp>
      <p:pic>
        <p:nvPicPr>
          <p:cNvPr id="5" name="Picture 4" descr="StateDiagr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9139" y="1444728"/>
            <a:ext cx="9109871" cy="478320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1064240" y="6519672"/>
            <a:ext cx="457200" cy="15811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lang="en-US" sz="800" b="1" i="0">
                <a:solidFill>
                  <a:srgbClr val="646F6B"/>
                </a:solidFill>
                <a:latin typeface="Aptos"/>
              </a:rPr>
              <a:t>21</a:t>
            </a:r>
            <a:endParaRPr lang="en-US" sz="800" b="1" i="0">
              <a:solidFill>
                <a:srgbClr val="646F6B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8368" y="6537960"/>
            <a:ext cx="457200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50" b="1" i="0">
                <a:solidFill>
                  <a:srgbClr val="646F6B"/>
                </a:solidFill>
                <a:latin typeface="Aptos"/>
              </a:rPr>
              <a:t>MARGAM  •  MCA FINAL YEAR MINI PROJECT</a:t>
            </a:r>
            <a:endParaRPr sz="750" b="1" i="0">
              <a:solidFill>
                <a:srgbClr val="646F6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11" y="384207"/>
            <a:ext cx="7314819" cy="27430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623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11" y="621938"/>
            <a:ext cx="10515052" cy="822917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464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Sequence Diagram</a:t>
            </a:r>
            <a:endParaRPr lang="en-US" sz="2800" dirty="0"/>
          </a:p>
        </p:txBody>
      </p:sp>
      <p:pic>
        <p:nvPicPr>
          <p:cNvPr id="10" name="Picture 9" descr="sequencediagr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736" y="1306306"/>
            <a:ext cx="10301703" cy="509434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1064240" y="6519672"/>
            <a:ext cx="457200" cy="15811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lang="en-US" sz="800" b="1" i="0">
                <a:solidFill>
                  <a:srgbClr val="646F6B"/>
                </a:solidFill>
                <a:latin typeface="Aptos"/>
              </a:rPr>
              <a:t>22</a:t>
            </a:r>
            <a:endParaRPr lang="en-US" sz="800" b="1" i="0">
              <a:solidFill>
                <a:srgbClr val="646F6B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8368" y="6537960"/>
            <a:ext cx="457200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50" b="1" i="0">
                <a:solidFill>
                  <a:srgbClr val="646F6B"/>
                </a:solidFill>
                <a:latin typeface="Aptos"/>
              </a:rPr>
              <a:t>MARGAM  •  MCA FINAL YEAR MINI PROJECT</a:t>
            </a:r>
            <a:endParaRPr sz="750" b="1" i="0">
              <a:solidFill>
                <a:srgbClr val="646F6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31089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E27B5B"/>
                </a:solidFill>
                <a:latin typeface="Aptos"/>
              </a:rPr>
              <a:t>13  •  BUILDING BLOCKS</a:t>
            </a:r>
            <a:endParaRPr sz="950" b="1" i="0">
              <a:solidFill>
                <a:srgbClr val="E27B5B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14984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0B5B52"/>
                </a:solidFill>
                <a:latin typeface="Georgia" panose="02040502050405020303"/>
              </a:rPr>
              <a:t>Module Description</a:t>
            </a:r>
            <a:endParaRPr sz="2700" b="1" i="0">
              <a:solidFill>
                <a:srgbClr val="0B5B52"/>
              </a:solidFill>
              <a:latin typeface="Georgia" panose="020405020504050203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64240" y="347472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50" b="1" i="0">
                <a:solidFill>
                  <a:srgbClr val="646F6B"/>
                </a:solidFill>
                <a:latin typeface="Aptos"/>
              </a:rPr>
              <a:t>14</a:t>
            </a:r>
            <a:endParaRPr sz="950" b="1" i="0">
              <a:solidFill>
                <a:srgbClr val="646F6B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8368" y="1261872"/>
            <a:ext cx="658368" cy="41148"/>
          </a:xfrm>
          <a:prstGeom prst="rect">
            <a:avLst/>
          </a:prstGeom>
          <a:solidFill>
            <a:srgbClr val="E27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72768"/>
            <a:ext cx="5074920" cy="166420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96112" y="1737360"/>
            <a:ext cx="393192" cy="393192"/>
          </a:xfrm>
          <a:prstGeom prst="ellipse">
            <a:avLst/>
          </a:prstGeom>
          <a:solidFill>
            <a:srgbClr val="D3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33372"/>
            <a:ext cx="393192" cy="128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50" b="1" i="0">
                <a:solidFill>
                  <a:srgbClr val="0B5B52"/>
                </a:solidFill>
                <a:latin typeface="Aptos"/>
              </a:rPr>
              <a:t>01</a:t>
            </a:r>
            <a:endParaRPr sz="85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99032" y="1737360"/>
            <a:ext cx="4224528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50" b="1" i="0">
                <a:solidFill>
                  <a:srgbClr val="0B5B52"/>
                </a:solidFill>
                <a:latin typeface="Aptos"/>
              </a:rPr>
              <a:t>Government Module</a:t>
            </a:r>
            <a:endParaRPr sz="145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99032" y="2157984"/>
            <a:ext cx="4224528" cy="9509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20" b="0" i="0">
                <a:solidFill>
                  <a:srgbClr val="2D3734"/>
                </a:solidFill>
                <a:latin typeface="Aptos"/>
              </a:rPr>
              <a:t>Manage doctors and ASHA workers, vaccination schedules, projects, resources, health information, notifications and reports.</a:t>
            </a:r>
            <a:endParaRPr sz="1220" b="0" i="0">
              <a:solidFill>
                <a:srgbClr val="2D3734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263640" y="1572768"/>
            <a:ext cx="5074920" cy="166420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28231" y="1737360"/>
            <a:ext cx="393192" cy="393192"/>
          </a:xfrm>
          <a:prstGeom prst="ellipse">
            <a:avLst/>
          </a:prstGeom>
          <a:solidFill>
            <a:srgbClr val="D3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1833372"/>
            <a:ext cx="393192" cy="128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50" b="1" i="0">
                <a:solidFill>
                  <a:srgbClr val="0B5B52"/>
                </a:solidFill>
                <a:latin typeface="Aptos"/>
              </a:rPr>
              <a:t>02</a:t>
            </a:r>
            <a:endParaRPr sz="85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931152" y="1737360"/>
            <a:ext cx="4224528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50" b="1" i="0">
                <a:solidFill>
                  <a:srgbClr val="0B5B52"/>
                </a:solidFill>
                <a:latin typeface="Aptos"/>
              </a:rPr>
              <a:t>ASHA Worker Module</a:t>
            </a:r>
            <a:endParaRPr sz="145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931152" y="2157984"/>
            <a:ext cx="4224528" cy="9509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20" b="0" i="0">
                <a:solidFill>
                  <a:srgbClr val="2D3734"/>
                </a:solidFill>
                <a:latin typeface="Aptos"/>
              </a:rPr>
              <a:t>Manage mothers and babies, update health records, growth data and vaccination status.</a:t>
            </a:r>
            <a:endParaRPr sz="1220" b="0" i="0">
              <a:solidFill>
                <a:srgbClr val="2D3734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31520" y="3630168"/>
            <a:ext cx="5074920" cy="166420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96112" y="3794759"/>
            <a:ext cx="393192" cy="393192"/>
          </a:xfrm>
          <a:prstGeom prst="ellipse">
            <a:avLst/>
          </a:prstGeom>
          <a:solidFill>
            <a:srgbClr val="D3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3890772"/>
            <a:ext cx="393192" cy="128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50" b="1" i="0">
                <a:solidFill>
                  <a:srgbClr val="0B5B52"/>
                </a:solidFill>
                <a:latin typeface="Aptos"/>
              </a:rPr>
              <a:t>03</a:t>
            </a:r>
            <a:endParaRPr sz="85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399032" y="3794759"/>
            <a:ext cx="4224528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50" b="1" i="0">
                <a:solidFill>
                  <a:srgbClr val="0B5B52"/>
                </a:solidFill>
                <a:latin typeface="Aptos"/>
              </a:rPr>
              <a:t>Doctor Module</a:t>
            </a:r>
            <a:endParaRPr sz="145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399032" y="4215383"/>
            <a:ext cx="4224528" cy="9509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20" b="0" i="0">
                <a:solidFill>
                  <a:srgbClr val="2D3734"/>
                </a:solidFill>
                <a:latin typeface="Aptos"/>
              </a:rPr>
              <a:t>Set availability, manage appointments, view patient details and update vaccination / care information.</a:t>
            </a:r>
            <a:endParaRPr sz="1220" b="0" i="0">
              <a:solidFill>
                <a:srgbClr val="2D3734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263640" y="3630168"/>
            <a:ext cx="5074920" cy="166420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28231" y="3794759"/>
            <a:ext cx="393192" cy="393192"/>
          </a:xfrm>
          <a:prstGeom prst="ellipse">
            <a:avLst/>
          </a:prstGeom>
          <a:solidFill>
            <a:srgbClr val="D3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1" y="3890772"/>
            <a:ext cx="393192" cy="128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50" b="1" i="0">
                <a:solidFill>
                  <a:srgbClr val="0B5B52"/>
                </a:solidFill>
                <a:latin typeface="Aptos"/>
              </a:rPr>
              <a:t>04</a:t>
            </a:r>
            <a:endParaRPr sz="85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931152" y="3794759"/>
            <a:ext cx="4224528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50" b="1" i="0">
                <a:solidFill>
                  <a:srgbClr val="0B5B52"/>
                </a:solidFill>
                <a:latin typeface="Aptos"/>
              </a:rPr>
              <a:t>Mother Module</a:t>
            </a:r>
            <a:endParaRPr sz="145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931152" y="4215383"/>
            <a:ext cx="4224528" cy="9509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20" b="0" i="0">
                <a:solidFill>
                  <a:srgbClr val="2D3734"/>
                </a:solidFill>
                <a:latin typeface="Aptos"/>
              </a:rPr>
              <a:t>Access pregnancy and baby information, vaccination schedules, growth, appointments, alerts and health information.</a:t>
            </a:r>
            <a:endParaRPr sz="1220" b="0" i="0">
              <a:solidFill>
                <a:srgbClr val="2D3734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58368" y="6537960"/>
            <a:ext cx="457200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50" b="1" i="0">
                <a:solidFill>
                  <a:srgbClr val="646F6B"/>
                </a:solidFill>
                <a:latin typeface="Aptos"/>
              </a:rPr>
              <a:t>MARGAM  •  MCA FINAL YEAR MINI PROJECT</a:t>
            </a:r>
            <a:endParaRPr sz="750" b="1" i="0">
              <a:solidFill>
                <a:srgbClr val="646F6B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1064240" y="6519672"/>
            <a:ext cx="457200" cy="15811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lang="en-US" sz="800" b="1" i="0">
                <a:solidFill>
                  <a:srgbClr val="646F6B"/>
                </a:solidFill>
                <a:latin typeface="Aptos"/>
              </a:rPr>
              <a:t>23</a:t>
            </a:r>
            <a:endParaRPr lang="en-US" sz="800" b="1" i="0">
              <a:solidFill>
                <a:srgbClr val="646F6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31089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E27B5B"/>
                </a:solidFill>
                <a:latin typeface="Aptos"/>
              </a:rPr>
              <a:t>14  •  APPROACH</a:t>
            </a:r>
            <a:endParaRPr sz="950" b="1" i="0">
              <a:solidFill>
                <a:srgbClr val="E27B5B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149840" cy="45085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0B5B52"/>
                </a:solidFill>
                <a:latin typeface="Georgia" panose="02040502050405020303"/>
              </a:rPr>
              <a:t>Methodology</a:t>
            </a:r>
            <a:endParaRPr sz="2700" b="1" i="0">
              <a:solidFill>
                <a:srgbClr val="0B5B52"/>
              </a:solidFill>
              <a:latin typeface="Georgia" panose="020405020504050203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64240" y="347472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50" b="1" i="0">
                <a:solidFill>
                  <a:srgbClr val="646F6B"/>
                </a:solidFill>
                <a:latin typeface="Aptos"/>
              </a:rPr>
              <a:t>15</a:t>
            </a:r>
            <a:endParaRPr sz="950" b="1" i="0">
              <a:solidFill>
                <a:srgbClr val="646F6B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8368" y="1261872"/>
            <a:ext cx="658368" cy="41148"/>
          </a:xfrm>
          <a:prstGeom prst="rect">
            <a:avLst/>
          </a:prstGeom>
          <a:solidFill>
            <a:srgbClr val="E27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" y="2999232"/>
            <a:ext cx="1389888" cy="685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50" b="0" i="0">
                <a:solidFill>
                  <a:srgbClr val="646F6B"/>
                </a:solidFill>
                <a:latin typeface="Aptos"/>
              </a:rPr>
              <a:t>Identify roles, workflows and functional needs.</a:t>
            </a:r>
            <a:endParaRPr sz="850" b="0" i="0">
              <a:solidFill>
                <a:srgbClr val="646F6B"/>
              </a:solidFill>
              <a:latin typeface="Aptos"/>
            </a:endParaRPr>
          </a:p>
        </p:txBody>
      </p:sp>
      <p:grpSp>
        <p:nvGrpSpPr>
          <p:cNvPr id="40" name="Group 39"/>
          <p:cNvGrpSpPr/>
          <p:nvPr/>
        </p:nvGrpSpPr>
        <p:grpSpPr>
          <a:xfrm>
            <a:off x="457200" y="1975485"/>
            <a:ext cx="10661650" cy="1947545"/>
            <a:chOff x="720" y="2736"/>
            <a:chExt cx="16790" cy="3067"/>
          </a:xfrm>
        </p:grpSpPr>
        <p:sp>
          <p:nvSpPr>
            <p:cNvPr id="6" name="Oval 5"/>
            <p:cNvSpPr/>
            <p:nvPr/>
          </p:nvSpPr>
          <p:spPr>
            <a:xfrm>
              <a:off x="1037" y="2736"/>
              <a:ext cx="792" cy="792"/>
            </a:xfrm>
            <a:prstGeom prst="ellipse">
              <a:avLst/>
            </a:prstGeom>
            <a:solidFill>
              <a:srgbClr val="0B5B5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37" y="2981"/>
              <a:ext cx="792" cy="259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ctr"/>
              <a:r>
                <a:rPr sz="900" b="1" i="0">
                  <a:solidFill>
                    <a:srgbClr val="FFFFFF"/>
                  </a:solidFill>
                  <a:latin typeface="Aptos"/>
                </a:rPr>
                <a:t>01</a:t>
              </a:r>
              <a:endParaRPr sz="900" b="1" i="0">
                <a:solidFill>
                  <a:srgbClr val="FFFFFF"/>
                </a:solidFill>
                <a:latin typeface="Aptos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20" y="3917"/>
              <a:ext cx="1440" cy="691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ctr"/>
              <a:r>
                <a:rPr sz="1040" b="1" i="0">
                  <a:solidFill>
                    <a:srgbClr val="0B5B52"/>
                  </a:solidFill>
                  <a:latin typeface="Aptos"/>
                </a:rPr>
                <a:t>Requirement Analysis</a:t>
              </a:r>
              <a:endParaRPr sz="1040" b="1" i="0">
                <a:solidFill>
                  <a:srgbClr val="0B5B52"/>
                </a:solidFill>
                <a:latin typeface="Aptos"/>
              </a:endParaRPr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1973" y="2995"/>
              <a:ext cx="1325" cy="346"/>
            </a:xfrm>
            <a:prstGeom prst="rightArrow">
              <a:avLst/>
            </a:prstGeom>
            <a:solidFill>
              <a:srgbClr val="E27B5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4032" y="2736"/>
              <a:ext cx="792" cy="792"/>
            </a:xfrm>
            <a:prstGeom prst="ellipse">
              <a:avLst/>
            </a:prstGeom>
            <a:solidFill>
              <a:srgbClr val="0B5B5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032" y="2981"/>
              <a:ext cx="792" cy="259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ctr"/>
              <a:r>
                <a:rPr sz="900" b="1" i="0">
                  <a:solidFill>
                    <a:srgbClr val="FFFFFF"/>
                  </a:solidFill>
                  <a:latin typeface="Aptos"/>
                </a:rPr>
                <a:t>02</a:t>
              </a:r>
              <a:endParaRPr sz="900" b="1" i="0">
                <a:solidFill>
                  <a:srgbClr val="FFFFFF"/>
                </a:solidFill>
                <a:latin typeface="Aptos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715" y="3917"/>
              <a:ext cx="1440" cy="691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ctr"/>
              <a:r>
                <a:rPr sz="1040" b="1" i="0">
                  <a:solidFill>
                    <a:srgbClr val="0B5B52"/>
                  </a:solidFill>
                  <a:latin typeface="Aptos"/>
                </a:rPr>
                <a:t>System Design</a:t>
              </a:r>
              <a:endParaRPr sz="1040" b="1" i="0">
                <a:solidFill>
                  <a:srgbClr val="0B5B52"/>
                </a:solidFill>
                <a:latin typeface="Aptos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341" y="4723"/>
              <a:ext cx="2189" cy="1080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ctr"/>
              <a:r>
                <a:rPr sz="850" b="0" i="0">
                  <a:solidFill>
                    <a:srgbClr val="646F6B"/>
                  </a:solidFill>
                  <a:latin typeface="Aptos"/>
                </a:rPr>
                <a:t>Prepare architecture, DFD/UML and module structure.</a:t>
              </a:r>
              <a:endParaRPr sz="850" b="0" i="0">
                <a:solidFill>
                  <a:srgbClr val="646F6B"/>
                </a:solidFill>
                <a:latin typeface="Aptos"/>
              </a:endParaRPr>
            </a:p>
          </p:txBody>
        </p:sp>
        <p:sp>
          <p:nvSpPr>
            <p:cNvPr id="15" name="Right Arrow 14"/>
            <p:cNvSpPr/>
            <p:nvPr/>
          </p:nvSpPr>
          <p:spPr>
            <a:xfrm>
              <a:off x="4968" y="2995"/>
              <a:ext cx="1325" cy="346"/>
            </a:xfrm>
            <a:prstGeom prst="rightArrow">
              <a:avLst/>
            </a:prstGeom>
            <a:solidFill>
              <a:srgbClr val="E27B5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Oval 15"/>
            <p:cNvSpPr/>
            <p:nvPr/>
          </p:nvSpPr>
          <p:spPr>
            <a:xfrm>
              <a:off x="7027" y="2736"/>
              <a:ext cx="792" cy="792"/>
            </a:xfrm>
            <a:prstGeom prst="ellipse">
              <a:avLst/>
            </a:prstGeom>
            <a:solidFill>
              <a:srgbClr val="0B5B5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027" y="2981"/>
              <a:ext cx="792" cy="259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ctr"/>
              <a:r>
                <a:rPr sz="900" b="1" i="0">
                  <a:solidFill>
                    <a:srgbClr val="FFFFFF"/>
                  </a:solidFill>
                  <a:latin typeface="Aptos"/>
                </a:rPr>
                <a:t>03</a:t>
              </a:r>
              <a:endParaRPr sz="900" b="1" i="0">
                <a:solidFill>
                  <a:srgbClr val="FFFFFF"/>
                </a:solidFill>
                <a:latin typeface="Aptos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710" y="3917"/>
              <a:ext cx="1440" cy="691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ctr"/>
              <a:r>
                <a:rPr sz="1040" b="1" i="0">
                  <a:solidFill>
                    <a:srgbClr val="0B5B52"/>
                  </a:solidFill>
                  <a:latin typeface="Aptos"/>
                </a:rPr>
                <a:t>Database Design</a:t>
              </a:r>
              <a:endParaRPr sz="1040" b="1" i="0">
                <a:solidFill>
                  <a:srgbClr val="0B5B52"/>
                </a:solidFill>
                <a:latin typeface="Aptos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336" y="4723"/>
              <a:ext cx="2189" cy="1080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ctr"/>
              <a:r>
                <a:rPr sz="850" b="0" i="0">
                  <a:solidFill>
                    <a:srgbClr val="646F6B"/>
                  </a:solidFill>
                  <a:latin typeface="Aptos"/>
                </a:rPr>
                <a:t>Model users, mothers, babies, vaccinations and appointments.</a:t>
              </a:r>
              <a:endParaRPr sz="850" b="0" i="0">
                <a:solidFill>
                  <a:srgbClr val="646F6B"/>
                </a:solidFill>
                <a:latin typeface="Aptos"/>
              </a:endParaRPr>
            </a:p>
          </p:txBody>
        </p:sp>
        <p:sp>
          <p:nvSpPr>
            <p:cNvPr id="20" name="Right Arrow 19"/>
            <p:cNvSpPr/>
            <p:nvPr/>
          </p:nvSpPr>
          <p:spPr>
            <a:xfrm>
              <a:off x="7963" y="2995"/>
              <a:ext cx="1325" cy="346"/>
            </a:xfrm>
            <a:prstGeom prst="rightArrow">
              <a:avLst/>
            </a:prstGeom>
            <a:solidFill>
              <a:srgbClr val="E27B5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Oval 20"/>
            <p:cNvSpPr/>
            <p:nvPr/>
          </p:nvSpPr>
          <p:spPr>
            <a:xfrm>
              <a:off x="10022" y="2736"/>
              <a:ext cx="792" cy="792"/>
            </a:xfrm>
            <a:prstGeom prst="ellipse">
              <a:avLst/>
            </a:prstGeom>
            <a:solidFill>
              <a:srgbClr val="0B5B5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0022" y="2981"/>
              <a:ext cx="792" cy="259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ctr"/>
              <a:r>
                <a:rPr sz="900" b="1" i="0">
                  <a:solidFill>
                    <a:srgbClr val="FFFFFF"/>
                  </a:solidFill>
                  <a:latin typeface="Aptos"/>
                </a:rPr>
                <a:t>04</a:t>
              </a:r>
              <a:endParaRPr sz="900" b="1" i="0">
                <a:solidFill>
                  <a:srgbClr val="FFFFFF"/>
                </a:solidFill>
                <a:latin typeface="Aptos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9706" y="3917"/>
              <a:ext cx="1440" cy="691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ctr"/>
              <a:r>
                <a:rPr sz="1040" b="1" i="0">
                  <a:solidFill>
                    <a:srgbClr val="0B5B52"/>
                  </a:solidFill>
                  <a:latin typeface="Aptos"/>
                </a:rPr>
                <a:t>Backend Development</a:t>
              </a:r>
              <a:endParaRPr sz="1040" b="1" i="0">
                <a:solidFill>
                  <a:srgbClr val="0B5B52"/>
                </a:solidFill>
                <a:latin typeface="Aptos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9331" y="4723"/>
              <a:ext cx="2189" cy="1080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ctr"/>
              <a:r>
                <a:rPr sz="850" b="0" i="0">
                  <a:solidFill>
                    <a:srgbClr val="646F6B"/>
                  </a:solidFill>
                  <a:latin typeface="Aptos"/>
                </a:rPr>
                <a:t>Implement Django models, views, URLs and business logic.</a:t>
              </a:r>
              <a:endParaRPr sz="850" b="0" i="0">
                <a:solidFill>
                  <a:srgbClr val="646F6B"/>
                </a:solidFill>
                <a:latin typeface="Aptos"/>
              </a:endParaRPr>
            </a:p>
          </p:txBody>
        </p:sp>
        <p:sp>
          <p:nvSpPr>
            <p:cNvPr id="25" name="Right Arrow 24"/>
            <p:cNvSpPr/>
            <p:nvPr/>
          </p:nvSpPr>
          <p:spPr>
            <a:xfrm>
              <a:off x="10958" y="2995"/>
              <a:ext cx="1325" cy="346"/>
            </a:xfrm>
            <a:prstGeom prst="rightArrow">
              <a:avLst/>
            </a:prstGeom>
            <a:solidFill>
              <a:srgbClr val="E27B5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Oval 25"/>
            <p:cNvSpPr/>
            <p:nvPr/>
          </p:nvSpPr>
          <p:spPr>
            <a:xfrm>
              <a:off x="13018" y="2736"/>
              <a:ext cx="792" cy="792"/>
            </a:xfrm>
            <a:prstGeom prst="ellipse">
              <a:avLst/>
            </a:prstGeom>
            <a:solidFill>
              <a:srgbClr val="0B5B5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3018" y="2981"/>
              <a:ext cx="792" cy="259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ctr"/>
              <a:r>
                <a:rPr sz="900" b="1" i="0">
                  <a:solidFill>
                    <a:srgbClr val="FFFFFF"/>
                  </a:solidFill>
                  <a:latin typeface="Aptos"/>
                </a:rPr>
                <a:t>05</a:t>
              </a:r>
              <a:endParaRPr sz="900" b="1" i="0">
                <a:solidFill>
                  <a:srgbClr val="FFFFFF"/>
                </a:solidFill>
                <a:latin typeface="Aptos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2701" y="3917"/>
              <a:ext cx="1440" cy="691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ctr"/>
              <a:r>
                <a:rPr sz="1040" b="1" i="0">
                  <a:solidFill>
                    <a:srgbClr val="0B5B52"/>
                  </a:solidFill>
                  <a:latin typeface="Aptos"/>
                </a:rPr>
                <a:t>Frontend Development</a:t>
              </a:r>
              <a:endParaRPr sz="1040" b="1" i="0">
                <a:solidFill>
                  <a:srgbClr val="0B5B52"/>
                </a:solidFill>
                <a:latin typeface="Aptos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2326" y="4723"/>
              <a:ext cx="2189" cy="1080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ctr"/>
              <a:r>
                <a:rPr sz="850" b="0" i="0">
                  <a:solidFill>
                    <a:srgbClr val="646F6B"/>
                  </a:solidFill>
                  <a:latin typeface="Aptos"/>
                </a:rPr>
                <a:t>Build responsive role-specific interfaces.</a:t>
              </a:r>
              <a:endParaRPr sz="850" b="0" i="0">
                <a:solidFill>
                  <a:srgbClr val="646F6B"/>
                </a:solidFill>
                <a:latin typeface="Aptos"/>
              </a:endParaRPr>
            </a:p>
          </p:txBody>
        </p:sp>
        <p:sp>
          <p:nvSpPr>
            <p:cNvPr id="30" name="Right Arrow 29"/>
            <p:cNvSpPr/>
            <p:nvPr/>
          </p:nvSpPr>
          <p:spPr>
            <a:xfrm>
              <a:off x="13954" y="2995"/>
              <a:ext cx="1325" cy="346"/>
            </a:xfrm>
            <a:prstGeom prst="rightArrow">
              <a:avLst/>
            </a:prstGeom>
            <a:solidFill>
              <a:srgbClr val="E27B5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Oval 30"/>
            <p:cNvSpPr/>
            <p:nvPr/>
          </p:nvSpPr>
          <p:spPr>
            <a:xfrm>
              <a:off x="16013" y="2736"/>
              <a:ext cx="792" cy="792"/>
            </a:xfrm>
            <a:prstGeom prst="ellipse">
              <a:avLst/>
            </a:prstGeom>
            <a:solidFill>
              <a:srgbClr val="0B5B5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6013" y="2981"/>
              <a:ext cx="792" cy="259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ctr"/>
              <a:r>
                <a:rPr sz="900" b="1" i="0">
                  <a:solidFill>
                    <a:srgbClr val="FFFFFF"/>
                  </a:solidFill>
                  <a:latin typeface="Aptos"/>
                </a:rPr>
                <a:t>06</a:t>
              </a:r>
              <a:endParaRPr sz="900" b="1" i="0">
                <a:solidFill>
                  <a:srgbClr val="FFFFFF"/>
                </a:solidFill>
                <a:latin typeface="Aptos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5696" y="3917"/>
              <a:ext cx="1440" cy="691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ctr"/>
              <a:r>
                <a:rPr sz="1040" b="1" i="0">
                  <a:solidFill>
                    <a:srgbClr val="0B5B52"/>
                  </a:solidFill>
                  <a:latin typeface="Aptos"/>
                </a:rPr>
                <a:t>Testing &amp; Refinement</a:t>
              </a:r>
              <a:endParaRPr sz="1040" b="1" i="0">
                <a:solidFill>
                  <a:srgbClr val="0B5B52"/>
                </a:solidFill>
                <a:latin typeface="Aptos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5322" y="4723"/>
              <a:ext cx="2189" cy="1080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ctr"/>
              <a:r>
                <a:rPr sz="850" b="0" i="0">
                  <a:solidFill>
                    <a:srgbClr val="646F6B"/>
                  </a:solidFill>
                  <a:latin typeface="Aptos"/>
                </a:rPr>
                <a:t>Validate core workflows and access control.</a:t>
              </a:r>
              <a:endParaRPr sz="850" b="0" i="0">
                <a:solidFill>
                  <a:srgbClr val="646F6B"/>
                </a:solidFill>
                <a:latin typeface="Aptos"/>
              </a:endParaRPr>
            </a:p>
          </p:txBody>
        </p:sp>
      </p:grpSp>
      <p:sp>
        <p:nvSpPr>
          <p:cNvPr id="35" name="Rounded Rectangle 34"/>
          <p:cNvSpPr/>
          <p:nvPr/>
        </p:nvSpPr>
        <p:spPr>
          <a:xfrm>
            <a:off x="960120" y="4846320"/>
            <a:ext cx="10241280" cy="749808"/>
          </a:xfrm>
          <a:prstGeom prst="roundRect">
            <a:avLst/>
          </a:prstGeom>
          <a:solidFill>
            <a:srgbClr val="E5F1ED"/>
          </a:solidFill>
          <a:ln w="8890">
            <a:solidFill>
              <a:srgbClr val="D2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34440" y="5010912"/>
            <a:ext cx="18288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50" b="1" i="0">
                <a:solidFill>
                  <a:srgbClr val="0B5B52"/>
                </a:solidFill>
                <a:latin typeface="Aptos"/>
              </a:rPr>
              <a:t>Development principle</a:t>
            </a:r>
            <a:endParaRPr sz="115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971800" y="5010912"/>
            <a:ext cx="76809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2D3734"/>
                </a:solidFill>
                <a:latin typeface="Aptos"/>
              </a:rPr>
              <a:t>Build in modules → validate each layer → integrate the complete workflow.</a:t>
            </a:r>
            <a:endParaRPr sz="1300" b="0" i="0">
              <a:solidFill>
                <a:srgbClr val="2D3734"/>
              </a:solidFill>
              <a:latin typeface="Apto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58368" y="6537960"/>
            <a:ext cx="457200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50" b="1" i="0">
                <a:solidFill>
                  <a:srgbClr val="646F6B"/>
                </a:solidFill>
                <a:latin typeface="Aptos"/>
              </a:rPr>
              <a:t>MARGAM  •  MCA FINAL YEAR MINI PROJECT</a:t>
            </a:r>
            <a:endParaRPr sz="750" b="1" i="0">
              <a:solidFill>
                <a:srgbClr val="646F6B"/>
              </a:solidFill>
              <a:latin typeface="Apto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1064240" y="6519672"/>
            <a:ext cx="457200" cy="15811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lang="en-US" sz="800" b="1" i="0">
                <a:solidFill>
                  <a:srgbClr val="646F6B"/>
                </a:solidFill>
                <a:latin typeface="Aptos"/>
              </a:rPr>
              <a:t>24</a:t>
            </a:r>
            <a:endParaRPr lang="en-US" sz="800" b="1" i="0">
              <a:solidFill>
                <a:srgbClr val="646F6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31089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E27B5B"/>
                </a:solidFill>
                <a:latin typeface="Aptos"/>
              </a:rPr>
              <a:t>15  •  IMPLEMENTATION</a:t>
            </a:r>
            <a:endParaRPr sz="950" b="1" i="0">
              <a:solidFill>
                <a:srgbClr val="E27B5B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14984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0B5B52"/>
                </a:solidFill>
                <a:latin typeface="Georgia" panose="02040502050405020303"/>
              </a:rPr>
              <a:t>Implementation</a:t>
            </a:r>
            <a:endParaRPr sz="2700" b="1" i="0">
              <a:solidFill>
                <a:srgbClr val="0B5B52"/>
              </a:solidFill>
              <a:latin typeface="Georgia" panose="020405020504050203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64240" y="347472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50" b="1" i="0">
                <a:solidFill>
                  <a:srgbClr val="646F6B"/>
                </a:solidFill>
                <a:latin typeface="Aptos"/>
              </a:rPr>
              <a:t>16</a:t>
            </a:r>
            <a:endParaRPr sz="950" b="1" i="0">
              <a:solidFill>
                <a:srgbClr val="646F6B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8368" y="1261872"/>
            <a:ext cx="658368" cy="41148"/>
          </a:xfrm>
          <a:prstGeom prst="rect">
            <a:avLst/>
          </a:prstGeom>
          <a:solidFill>
            <a:srgbClr val="E27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13232" y="1572768"/>
            <a:ext cx="3401568" cy="13898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4" y="1737360"/>
            <a:ext cx="393192" cy="393192"/>
          </a:xfrm>
          <a:prstGeom prst="ellipse">
            <a:avLst/>
          </a:prstGeom>
          <a:solidFill>
            <a:srgbClr val="D3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833372"/>
            <a:ext cx="393192" cy="128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50" b="1" i="0">
                <a:solidFill>
                  <a:srgbClr val="0B5B52"/>
                </a:solidFill>
                <a:latin typeface="Aptos"/>
              </a:rPr>
              <a:t>01</a:t>
            </a:r>
            <a:endParaRPr sz="85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80744" y="1737360"/>
            <a:ext cx="2551176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50" b="1" i="0">
                <a:solidFill>
                  <a:srgbClr val="0B5B52"/>
                </a:solidFill>
                <a:latin typeface="Aptos"/>
              </a:rPr>
              <a:t>Authentication &amp; Access</a:t>
            </a:r>
            <a:endParaRPr sz="145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80744" y="2157984"/>
            <a:ext cx="2551176" cy="6766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20" b="0" i="0">
                <a:solidFill>
                  <a:srgbClr val="2D3734"/>
                </a:solidFill>
                <a:latin typeface="Aptos"/>
              </a:rPr>
              <a:t>Custom user roles and role-specific dashboard routing.</a:t>
            </a:r>
            <a:endParaRPr sz="1120" b="0" i="0">
              <a:solidFill>
                <a:srgbClr val="2D3734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443984" y="1572768"/>
            <a:ext cx="3401568" cy="13898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08576" y="1737360"/>
            <a:ext cx="393192" cy="393192"/>
          </a:xfrm>
          <a:prstGeom prst="ellipse">
            <a:avLst/>
          </a:prstGeom>
          <a:solidFill>
            <a:srgbClr val="D3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833372"/>
            <a:ext cx="393192" cy="128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50" b="1" i="0">
                <a:solidFill>
                  <a:srgbClr val="0B5B52"/>
                </a:solidFill>
                <a:latin typeface="Aptos"/>
              </a:rPr>
              <a:t>02</a:t>
            </a:r>
            <a:endParaRPr sz="85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111496" y="1737360"/>
            <a:ext cx="2551176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50" b="1" i="0">
                <a:solidFill>
                  <a:srgbClr val="0B5B52"/>
                </a:solidFill>
                <a:latin typeface="Aptos"/>
              </a:rPr>
              <a:t>Vaccination Logic</a:t>
            </a:r>
            <a:endParaRPr sz="145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111496" y="2157984"/>
            <a:ext cx="2551176" cy="6766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20" b="0" i="0">
                <a:solidFill>
                  <a:srgbClr val="2D3734"/>
                </a:solidFill>
                <a:latin typeface="Aptos"/>
              </a:rPr>
              <a:t>Baby registration can trigger creation of vaccination records from schedule templates.</a:t>
            </a:r>
            <a:endParaRPr sz="1120" b="0" i="0">
              <a:solidFill>
                <a:srgbClr val="2D3734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174736" y="1572768"/>
            <a:ext cx="3401568" cy="13898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39327" y="1737360"/>
            <a:ext cx="393192" cy="393192"/>
          </a:xfrm>
          <a:prstGeom prst="ellipse">
            <a:avLst/>
          </a:prstGeom>
          <a:solidFill>
            <a:srgbClr val="D3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7" y="1833372"/>
            <a:ext cx="393192" cy="128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50" b="1" i="0">
                <a:solidFill>
                  <a:srgbClr val="0B5B52"/>
                </a:solidFill>
                <a:latin typeface="Aptos"/>
              </a:rPr>
              <a:t>03</a:t>
            </a:r>
            <a:endParaRPr sz="85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842248" y="1737360"/>
            <a:ext cx="2551176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50" b="1" i="0">
                <a:solidFill>
                  <a:srgbClr val="0B5B52"/>
                </a:solidFill>
                <a:latin typeface="Aptos"/>
              </a:rPr>
              <a:t>Appointments</a:t>
            </a:r>
            <a:endParaRPr sz="145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842248" y="2157984"/>
            <a:ext cx="2551176" cy="6766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20" b="0" i="0">
                <a:solidFill>
                  <a:srgbClr val="2D3734"/>
                </a:solidFill>
                <a:latin typeface="Aptos"/>
              </a:rPr>
              <a:t>Doctor availability and booking states support the consultation workflow.</a:t>
            </a:r>
            <a:endParaRPr sz="1120" b="0" i="0">
              <a:solidFill>
                <a:srgbClr val="2D3734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713232" y="3236976"/>
            <a:ext cx="3401568" cy="13898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7824" y="3401568"/>
            <a:ext cx="393192" cy="393192"/>
          </a:xfrm>
          <a:prstGeom prst="ellipse">
            <a:avLst/>
          </a:prstGeom>
          <a:solidFill>
            <a:srgbClr val="D3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3497580"/>
            <a:ext cx="393192" cy="128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50" b="1" i="0">
                <a:solidFill>
                  <a:srgbClr val="0B5B52"/>
                </a:solidFill>
                <a:latin typeface="Aptos"/>
              </a:rPr>
              <a:t>04</a:t>
            </a:r>
            <a:endParaRPr sz="85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380744" y="3401568"/>
            <a:ext cx="2551176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50" b="1" i="0">
                <a:solidFill>
                  <a:srgbClr val="0B5B52"/>
                </a:solidFill>
                <a:latin typeface="Aptos"/>
              </a:rPr>
              <a:t>Notifications</a:t>
            </a:r>
            <a:endParaRPr sz="145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380744" y="3822191"/>
            <a:ext cx="2551176" cy="6766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20" b="0" i="0">
                <a:solidFill>
                  <a:srgbClr val="2D3734"/>
                </a:solidFill>
                <a:latin typeface="Aptos"/>
              </a:rPr>
              <a:t>Vaccination and appointment updates are stored as in-app notifications.</a:t>
            </a:r>
            <a:endParaRPr sz="1120" b="0" i="0">
              <a:solidFill>
                <a:srgbClr val="2D3734"/>
              </a:solidFill>
              <a:latin typeface="Apto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443984" y="3236976"/>
            <a:ext cx="3401568" cy="13898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08576" y="3401568"/>
            <a:ext cx="393192" cy="393192"/>
          </a:xfrm>
          <a:prstGeom prst="ellipse">
            <a:avLst/>
          </a:prstGeom>
          <a:solidFill>
            <a:srgbClr val="D3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08576" y="3497580"/>
            <a:ext cx="393192" cy="128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50" b="1" i="0">
                <a:solidFill>
                  <a:srgbClr val="0B5B52"/>
                </a:solidFill>
                <a:latin typeface="Aptos"/>
              </a:rPr>
              <a:t>05</a:t>
            </a:r>
            <a:endParaRPr sz="85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111496" y="3401568"/>
            <a:ext cx="2551176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50" b="1" i="0">
                <a:solidFill>
                  <a:srgbClr val="0B5B52"/>
                </a:solidFill>
                <a:latin typeface="Aptos"/>
              </a:rPr>
              <a:t>Growth Monitoring</a:t>
            </a:r>
            <a:endParaRPr sz="145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111496" y="3822191"/>
            <a:ext cx="2551176" cy="6766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20" b="0" i="0">
                <a:solidFill>
                  <a:srgbClr val="2D3734"/>
                </a:solidFill>
                <a:latin typeface="Aptos"/>
              </a:rPr>
              <a:t>Weight, height and head circumference records support baby tracking.</a:t>
            </a:r>
            <a:endParaRPr sz="1120" b="0" i="0">
              <a:solidFill>
                <a:srgbClr val="2D3734"/>
              </a:solidFill>
              <a:latin typeface="Aptos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8174736" y="3236976"/>
            <a:ext cx="3401568" cy="13898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39327" y="3401568"/>
            <a:ext cx="393192" cy="393192"/>
          </a:xfrm>
          <a:prstGeom prst="ellipse">
            <a:avLst/>
          </a:prstGeom>
          <a:solidFill>
            <a:srgbClr val="D3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39327" y="3497580"/>
            <a:ext cx="393192" cy="128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50" b="1" i="0">
                <a:solidFill>
                  <a:srgbClr val="0B5B52"/>
                </a:solidFill>
                <a:latin typeface="Aptos"/>
              </a:rPr>
              <a:t>06</a:t>
            </a:r>
            <a:endParaRPr sz="85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842248" y="3401568"/>
            <a:ext cx="2551176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50" b="1" i="0">
                <a:solidFill>
                  <a:srgbClr val="0B5B52"/>
                </a:solidFill>
                <a:latin typeface="Aptos"/>
              </a:rPr>
              <a:t>Government Monitoring</a:t>
            </a:r>
            <a:endParaRPr sz="145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842248" y="3822191"/>
            <a:ext cx="2551176" cy="6766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20" b="0" i="0">
                <a:solidFill>
                  <a:srgbClr val="2D3734"/>
                </a:solidFill>
                <a:latin typeface="Aptos"/>
              </a:rPr>
              <a:t>Dashboard aggregates key counts and visual summaries for oversight.</a:t>
            </a:r>
            <a:endParaRPr sz="1120" b="0" i="0">
              <a:solidFill>
                <a:srgbClr val="2D3734"/>
              </a:solidFill>
              <a:latin typeface="Apto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22960" y="5285232"/>
            <a:ext cx="104241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350" b="1" i="0">
                <a:solidFill>
                  <a:srgbClr val="0B5B52"/>
                </a:solidFill>
                <a:latin typeface="Aptos"/>
              </a:rPr>
              <a:t>Implementation structure: accounts • core • government • ASHA • doctor • mother</a:t>
            </a:r>
            <a:endParaRPr sz="135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2011680" y="5806440"/>
            <a:ext cx="1417320" cy="310896"/>
          </a:xfrm>
          <a:prstGeom prst="roundRect">
            <a:avLst/>
          </a:prstGeom>
          <a:solidFill>
            <a:srgbClr val="E5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11680" y="5865876"/>
            <a:ext cx="14173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80" b="1" i="0">
                <a:solidFill>
                  <a:srgbClr val="0B5B52"/>
                </a:solidFill>
                <a:latin typeface="Aptos"/>
              </a:rPr>
              <a:t>DJANGO MODELS</a:t>
            </a:r>
            <a:endParaRPr sz="88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3657600" y="5806440"/>
            <a:ext cx="1325880" cy="310896"/>
          </a:xfrm>
          <a:prstGeom prst="roundRect">
            <a:avLst/>
          </a:prstGeom>
          <a:solidFill>
            <a:srgbClr val="E5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0" y="5865876"/>
            <a:ext cx="132588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80" b="1" i="0">
                <a:solidFill>
                  <a:srgbClr val="0B5B52"/>
                </a:solidFill>
                <a:latin typeface="Aptos"/>
              </a:rPr>
              <a:t>VIEWS + URLS</a:t>
            </a:r>
            <a:endParaRPr sz="88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5212080" y="5806440"/>
            <a:ext cx="1143000" cy="310896"/>
          </a:xfrm>
          <a:prstGeom prst="roundRect">
            <a:avLst/>
          </a:prstGeom>
          <a:solidFill>
            <a:srgbClr val="E5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12080" y="5865876"/>
            <a:ext cx="11430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80" b="1" i="0">
                <a:solidFill>
                  <a:srgbClr val="0B5B52"/>
                </a:solidFill>
                <a:latin typeface="Aptos"/>
              </a:rPr>
              <a:t>TEMPLATES</a:t>
            </a:r>
            <a:endParaRPr sz="88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6583680" y="5806440"/>
            <a:ext cx="1051560" cy="310896"/>
          </a:xfrm>
          <a:prstGeom prst="roundRect">
            <a:avLst/>
          </a:prstGeom>
          <a:solidFill>
            <a:srgbClr val="E5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0" y="5865876"/>
            <a:ext cx="10515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80" b="1" i="0">
                <a:solidFill>
                  <a:srgbClr val="0B5B52"/>
                </a:solidFill>
                <a:latin typeface="Aptos"/>
              </a:rPr>
              <a:t>SIGNALS</a:t>
            </a:r>
            <a:endParaRPr sz="88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7818120" y="5806440"/>
            <a:ext cx="960120" cy="310896"/>
          </a:xfrm>
          <a:prstGeom prst="roundRect">
            <a:avLst/>
          </a:prstGeom>
          <a:solidFill>
            <a:srgbClr val="E5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18120" y="5865876"/>
            <a:ext cx="9601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80" b="1" i="0">
                <a:solidFill>
                  <a:srgbClr val="0B5B52"/>
                </a:solidFill>
                <a:latin typeface="Aptos"/>
              </a:rPr>
              <a:t>SQLITE</a:t>
            </a:r>
            <a:endParaRPr sz="88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58368" y="6537960"/>
            <a:ext cx="457200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50" b="1" i="0">
                <a:solidFill>
                  <a:srgbClr val="646F6B"/>
                </a:solidFill>
                <a:latin typeface="Aptos"/>
              </a:rPr>
              <a:t>MARGAM  •  MCA FINAL YEAR MINI PROJECT</a:t>
            </a:r>
            <a:endParaRPr sz="750" b="1" i="0">
              <a:solidFill>
                <a:srgbClr val="646F6B"/>
              </a:solidFill>
              <a:latin typeface="Apto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1064240" y="6519672"/>
            <a:ext cx="457200" cy="15811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lang="en-US" sz="800" b="1" i="0">
                <a:solidFill>
                  <a:srgbClr val="646F6B"/>
                </a:solidFill>
                <a:latin typeface="Aptos"/>
              </a:rPr>
              <a:t>25</a:t>
            </a:r>
            <a:endParaRPr lang="en-US" sz="800" b="1" i="0">
              <a:solidFill>
                <a:srgbClr val="646F6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31089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E27B5B"/>
                </a:solidFill>
                <a:latin typeface="Aptos"/>
              </a:rPr>
              <a:t>16  •  OUTCOME</a:t>
            </a:r>
            <a:endParaRPr sz="950" b="1" i="0">
              <a:solidFill>
                <a:srgbClr val="E27B5B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14984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0B5B52"/>
                </a:solidFill>
                <a:latin typeface="Georgia" panose="02040502050405020303"/>
              </a:rPr>
              <a:t>Results / Analysis</a:t>
            </a:r>
            <a:endParaRPr sz="2700" b="1" i="0">
              <a:solidFill>
                <a:srgbClr val="0B5B52"/>
              </a:solidFill>
              <a:latin typeface="Georgia" panose="020405020504050203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64240" y="347472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50" b="1" i="0">
                <a:solidFill>
                  <a:srgbClr val="646F6B"/>
                </a:solidFill>
                <a:latin typeface="Aptos"/>
              </a:rPr>
              <a:t>17</a:t>
            </a:r>
            <a:endParaRPr sz="950" b="1" i="0">
              <a:solidFill>
                <a:srgbClr val="646F6B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8368" y="1261872"/>
            <a:ext cx="658368" cy="41148"/>
          </a:xfrm>
          <a:prstGeom prst="rect">
            <a:avLst/>
          </a:prstGeom>
          <a:solidFill>
            <a:srgbClr val="E27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81328"/>
            <a:ext cx="1051560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D3734"/>
                </a:solidFill>
                <a:latin typeface="Aptos"/>
              </a:rPr>
              <a:t>The implementation currently covers the core project workflow identified during development.</a:t>
            </a:r>
            <a:endParaRPr sz="1600" b="0" i="0">
              <a:solidFill>
                <a:srgbClr val="2D3734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49808" y="2331720"/>
            <a:ext cx="2487168" cy="749808"/>
          </a:xfrm>
          <a:prstGeom prst="roundRect">
            <a:avLst/>
          </a:prstGeom>
          <a:solidFill>
            <a:srgbClr val="E5F1ED"/>
          </a:solidFill>
          <a:ln w="8890">
            <a:solidFill>
              <a:srgbClr val="D2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542032"/>
            <a:ext cx="256032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0B5B52"/>
                </a:solidFill>
                <a:latin typeface="Aptos"/>
              </a:rPr>
              <a:t>✓</a:t>
            </a:r>
            <a:endParaRPr sz="120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52728" y="2523744"/>
            <a:ext cx="18288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0B5B52"/>
                </a:solidFill>
                <a:latin typeface="Aptos"/>
              </a:rPr>
              <a:t>Authentication</a:t>
            </a:r>
            <a:endParaRPr sz="105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511296" y="2331720"/>
            <a:ext cx="2487168" cy="749808"/>
          </a:xfrm>
          <a:prstGeom prst="roundRect">
            <a:avLst/>
          </a:prstGeom>
          <a:solidFill>
            <a:srgbClr val="E5F1ED"/>
          </a:solidFill>
          <a:ln w="8890">
            <a:solidFill>
              <a:srgbClr val="D2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542032"/>
            <a:ext cx="256032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0B5B52"/>
                </a:solidFill>
                <a:latin typeface="Aptos"/>
              </a:rPr>
              <a:t>✓</a:t>
            </a:r>
            <a:endParaRPr sz="120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014215" y="2523744"/>
            <a:ext cx="18288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0B5B52"/>
                </a:solidFill>
                <a:latin typeface="Aptos"/>
              </a:rPr>
              <a:t>Role Management</a:t>
            </a:r>
            <a:endParaRPr sz="105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272784" y="2331720"/>
            <a:ext cx="2487168" cy="749808"/>
          </a:xfrm>
          <a:prstGeom prst="roundRect">
            <a:avLst/>
          </a:prstGeom>
          <a:solidFill>
            <a:srgbClr val="E5F1ED"/>
          </a:solidFill>
          <a:ln w="8890">
            <a:solidFill>
              <a:srgbClr val="D2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542032"/>
            <a:ext cx="256032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0B5B52"/>
                </a:solidFill>
                <a:latin typeface="Aptos"/>
              </a:rPr>
              <a:t>✓</a:t>
            </a:r>
            <a:endParaRPr sz="120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775704" y="2523744"/>
            <a:ext cx="18288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0B5B52"/>
                </a:solidFill>
                <a:latin typeface="Aptos"/>
              </a:rPr>
              <a:t>Mother Module</a:t>
            </a:r>
            <a:endParaRPr sz="105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9034272" y="2331720"/>
            <a:ext cx="2487168" cy="749808"/>
          </a:xfrm>
          <a:prstGeom prst="roundRect">
            <a:avLst/>
          </a:prstGeom>
          <a:solidFill>
            <a:srgbClr val="E5F1ED"/>
          </a:solidFill>
          <a:ln w="8890">
            <a:solidFill>
              <a:srgbClr val="D2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0576" y="2542032"/>
            <a:ext cx="256032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0B5B52"/>
                </a:solidFill>
                <a:latin typeface="Aptos"/>
              </a:rPr>
              <a:t>✓</a:t>
            </a:r>
            <a:endParaRPr sz="120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537192" y="2523744"/>
            <a:ext cx="18288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0B5B52"/>
                </a:solidFill>
                <a:latin typeface="Aptos"/>
              </a:rPr>
              <a:t>Vaccination Tracking</a:t>
            </a:r>
            <a:endParaRPr sz="105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49808" y="3474720"/>
            <a:ext cx="2487168" cy="749808"/>
          </a:xfrm>
          <a:prstGeom prst="roundRect">
            <a:avLst/>
          </a:prstGeom>
          <a:solidFill>
            <a:srgbClr val="E5F1ED"/>
          </a:solidFill>
          <a:ln w="8890">
            <a:solidFill>
              <a:srgbClr val="D2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685032"/>
            <a:ext cx="256032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0B5B52"/>
                </a:solidFill>
                <a:latin typeface="Aptos"/>
              </a:rPr>
              <a:t>✓</a:t>
            </a:r>
            <a:endParaRPr sz="120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252728" y="3666744"/>
            <a:ext cx="18288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0B5B52"/>
                </a:solidFill>
                <a:latin typeface="Aptos"/>
              </a:rPr>
              <a:t>Doctor Appointment Booking</a:t>
            </a:r>
            <a:endParaRPr sz="105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511296" y="3474720"/>
            <a:ext cx="2487168" cy="749808"/>
          </a:xfrm>
          <a:prstGeom prst="roundRect">
            <a:avLst/>
          </a:prstGeom>
          <a:solidFill>
            <a:srgbClr val="E5F1ED"/>
          </a:solidFill>
          <a:ln w="8890">
            <a:solidFill>
              <a:srgbClr val="D2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3685032"/>
            <a:ext cx="256032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0B5B52"/>
                </a:solidFill>
                <a:latin typeface="Aptos"/>
              </a:rPr>
              <a:t>✓</a:t>
            </a:r>
            <a:endParaRPr sz="120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014215" y="3666744"/>
            <a:ext cx="18288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0B5B52"/>
                </a:solidFill>
                <a:latin typeface="Aptos"/>
              </a:rPr>
              <a:t>Government Dashboard</a:t>
            </a:r>
            <a:endParaRPr sz="105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272784" y="3474720"/>
            <a:ext cx="2487168" cy="749808"/>
          </a:xfrm>
          <a:prstGeom prst="roundRect">
            <a:avLst/>
          </a:prstGeom>
          <a:solidFill>
            <a:srgbClr val="E5F1ED"/>
          </a:solidFill>
          <a:ln w="8890">
            <a:solidFill>
              <a:srgbClr val="D2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19088" y="3685032"/>
            <a:ext cx="256032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0B5B52"/>
                </a:solidFill>
                <a:latin typeface="Aptos"/>
              </a:rPr>
              <a:t>✓</a:t>
            </a:r>
            <a:endParaRPr sz="120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775704" y="3666744"/>
            <a:ext cx="18288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0B5B52"/>
                </a:solidFill>
                <a:latin typeface="Aptos"/>
              </a:rPr>
              <a:t>Notifications</a:t>
            </a:r>
            <a:endParaRPr sz="105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49808" y="5074920"/>
            <a:ext cx="2743200" cy="8229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230368"/>
            <a:ext cx="68580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B5B52"/>
                </a:solidFill>
                <a:latin typeface="Georgia" panose="02040502050405020303"/>
              </a:rPr>
              <a:t>38</a:t>
            </a:r>
            <a:endParaRPr sz="2500" b="1" i="0">
              <a:solidFill>
                <a:srgbClr val="0B5B52"/>
              </a:solidFill>
              <a:latin typeface="Georgia" panose="02040502050405020303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664208" y="5212080"/>
            <a:ext cx="150876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646F6B"/>
                </a:solidFill>
                <a:latin typeface="Aptos"/>
              </a:rPr>
              <a:t>automated test methods defined
across the main Django apps</a:t>
            </a:r>
            <a:endParaRPr sz="950" b="0" i="0">
              <a:solidFill>
                <a:srgbClr val="646F6B"/>
              </a:solidFill>
              <a:latin typeface="Aptos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3703320" y="5074920"/>
            <a:ext cx="7543800" cy="8229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31920" y="5239512"/>
            <a:ext cx="123444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E27B5B"/>
                </a:solidFill>
                <a:latin typeface="Aptos"/>
              </a:rPr>
              <a:t>Observation</a:t>
            </a:r>
            <a:endParaRPr sz="1050" b="1" i="0">
              <a:solidFill>
                <a:srgbClr val="E27B5B"/>
              </a:solidFill>
              <a:latin typeface="Apto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074920" y="5212080"/>
            <a:ext cx="580644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80" b="0" i="0">
                <a:solidFill>
                  <a:srgbClr val="2D3734"/>
                </a:solidFill>
                <a:latin typeface="Aptos"/>
              </a:rPr>
              <a:t>The system provides a unified workflow for role-based records, vaccination, appointments, notifications and monitoring.</a:t>
            </a:r>
            <a:endParaRPr sz="1080" b="0" i="0">
              <a:solidFill>
                <a:srgbClr val="2D3734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31520" y="6108192"/>
            <a:ext cx="10698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80" b="0" i="1">
                <a:solidFill>
                  <a:srgbClr val="646F6B"/>
                </a:solidFill>
                <a:latin typeface="Aptos"/>
              </a:rPr>
              <a:t>No ML accuracy/F1 or clinical outcome metric is claimed because MARGAM is a management web application, not a predictive model.</a:t>
            </a:r>
            <a:endParaRPr sz="880" b="0" i="1">
              <a:solidFill>
                <a:srgbClr val="646F6B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58368" y="6537960"/>
            <a:ext cx="457200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50" b="1" i="0">
                <a:solidFill>
                  <a:srgbClr val="646F6B"/>
                </a:solidFill>
                <a:latin typeface="Aptos"/>
              </a:rPr>
              <a:t>MARGAM  •  MCA FINAL YEAR MINI PROJECT</a:t>
            </a:r>
            <a:endParaRPr sz="750" b="1" i="0">
              <a:solidFill>
                <a:srgbClr val="646F6B"/>
              </a:solidFill>
              <a:latin typeface="Apto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1064240" y="6519672"/>
            <a:ext cx="457200" cy="15811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lang="en-US" sz="800" b="1" i="0">
                <a:solidFill>
                  <a:srgbClr val="646F6B"/>
                </a:solidFill>
                <a:latin typeface="Aptos"/>
              </a:rPr>
              <a:t>26</a:t>
            </a:r>
            <a:endParaRPr lang="en-US" sz="800" b="1" i="0">
              <a:solidFill>
                <a:srgbClr val="646F6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31089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E27B5B"/>
                </a:solidFill>
                <a:latin typeface="Aptos"/>
              </a:rPr>
              <a:t>17  •  OUTPUT</a:t>
            </a:r>
            <a:endParaRPr sz="950" b="1" i="0">
              <a:solidFill>
                <a:srgbClr val="E27B5B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14984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0B5B52"/>
                </a:solidFill>
                <a:latin typeface="Georgia" panose="02040502050405020303"/>
              </a:rPr>
              <a:t>Screenshots / Output</a:t>
            </a:r>
            <a:endParaRPr sz="2700" b="1" i="0">
              <a:solidFill>
                <a:srgbClr val="0B5B52"/>
              </a:solidFill>
              <a:latin typeface="Georgia" panose="020405020504050203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64240" y="347472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50" b="1" i="0">
                <a:solidFill>
                  <a:srgbClr val="646F6B"/>
                </a:solidFill>
                <a:latin typeface="Aptos"/>
              </a:rPr>
              <a:t>18</a:t>
            </a:r>
            <a:endParaRPr sz="950" b="1" i="0">
              <a:solidFill>
                <a:srgbClr val="646F6B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8368" y="1261872"/>
            <a:ext cx="658368" cy="41148"/>
          </a:xfrm>
          <a:prstGeom prst="rect">
            <a:avLst/>
          </a:prstGeom>
          <a:solidFill>
            <a:srgbClr val="E27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13232" y="1627632"/>
            <a:ext cx="5166360" cy="33375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ui_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682496"/>
            <a:ext cx="5056632" cy="322783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13232" y="4645152"/>
            <a:ext cx="51663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718304"/>
            <a:ext cx="4946904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20" b="1" i="0">
                <a:solidFill>
                  <a:srgbClr val="0B5B52"/>
                </a:solidFill>
                <a:latin typeface="Aptos"/>
              </a:rPr>
              <a:t>Interface / dashboard snapshot</a:t>
            </a:r>
            <a:endParaRPr sz="92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17920" y="1627632"/>
            <a:ext cx="5166360" cy="33375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ui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783" y="1682496"/>
            <a:ext cx="5056632" cy="322783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217920" y="4645152"/>
            <a:ext cx="51663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4718304"/>
            <a:ext cx="4946904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20" b="1" i="0">
                <a:solidFill>
                  <a:srgbClr val="0B5B52"/>
                </a:solidFill>
                <a:latin typeface="Aptos"/>
              </a:rPr>
              <a:t>Functional interface snapshot</a:t>
            </a:r>
            <a:endParaRPr sz="92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68680" y="5349240"/>
            <a:ext cx="1024128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50" b="0" i="1">
                <a:solidFill>
                  <a:srgbClr val="646F6B"/>
                </a:solidFill>
                <a:latin typeface="Aptos"/>
              </a:rPr>
              <a:t>The current deck source contains interface snapshots from the implemented design. Replace these with the latest final-build screenshots before submission if the UI has changed.</a:t>
            </a:r>
            <a:endParaRPr sz="1150" b="0" i="1">
              <a:solidFill>
                <a:srgbClr val="646F6B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920240" y="6053328"/>
            <a:ext cx="914400" cy="310896"/>
          </a:xfrm>
          <a:prstGeom prst="roundRect">
            <a:avLst/>
          </a:prstGeom>
          <a:solidFill>
            <a:srgbClr val="E5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20240" y="6112764"/>
            <a:ext cx="9144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80" b="1" i="0">
                <a:solidFill>
                  <a:srgbClr val="0B5B52"/>
                </a:solidFill>
                <a:latin typeface="Aptos"/>
              </a:rPr>
              <a:t>LOGIN</a:t>
            </a:r>
            <a:endParaRPr sz="88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063240" y="6053328"/>
            <a:ext cx="1143000" cy="310896"/>
          </a:xfrm>
          <a:prstGeom prst="roundRect">
            <a:avLst/>
          </a:prstGeom>
          <a:solidFill>
            <a:srgbClr val="E5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63240" y="6112764"/>
            <a:ext cx="11430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80" b="1" i="0">
                <a:solidFill>
                  <a:srgbClr val="0B5B52"/>
                </a:solidFill>
                <a:latin typeface="Aptos"/>
              </a:rPr>
              <a:t>DASHBOARD</a:t>
            </a:r>
            <a:endParaRPr sz="88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480560" y="6053328"/>
            <a:ext cx="1097280" cy="310896"/>
          </a:xfrm>
          <a:prstGeom prst="roundRect">
            <a:avLst/>
          </a:prstGeom>
          <a:solidFill>
            <a:srgbClr val="E5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6112764"/>
            <a:ext cx="109728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80" b="1" i="0">
                <a:solidFill>
                  <a:srgbClr val="0B5B52"/>
                </a:solidFill>
                <a:latin typeface="Aptos"/>
              </a:rPr>
              <a:t>MODULE UI</a:t>
            </a:r>
            <a:endParaRPr sz="88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852160" y="6053328"/>
            <a:ext cx="960120" cy="310896"/>
          </a:xfrm>
          <a:prstGeom prst="roundRect">
            <a:avLst/>
          </a:prstGeom>
          <a:solidFill>
            <a:srgbClr val="E5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52160" y="6112764"/>
            <a:ext cx="9601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80" b="1" i="0">
                <a:solidFill>
                  <a:srgbClr val="0B5B52"/>
                </a:solidFill>
                <a:latin typeface="Aptos"/>
              </a:rPr>
              <a:t>REPORTS</a:t>
            </a:r>
            <a:endParaRPr sz="88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58368" y="6537960"/>
            <a:ext cx="457200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50" b="1" i="0">
                <a:solidFill>
                  <a:srgbClr val="646F6B"/>
                </a:solidFill>
                <a:latin typeface="Aptos"/>
              </a:rPr>
              <a:t>MARGAM  •  MCA FINAL YEAR MINI PROJECT</a:t>
            </a:r>
            <a:endParaRPr sz="750" b="1" i="0">
              <a:solidFill>
                <a:srgbClr val="646F6B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064240" y="6519672"/>
            <a:ext cx="457200" cy="15811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lang="en-US" sz="800" b="1" i="0">
                <a:solidFill>
                  <a:srgbClr val="646F6B"/>
                </a:solidFill>
                <a:latin typeface="Aptos"/>
              </a:rPr>
              <a:t>27</a:t>
            </a:r>
            <a:endParaRPr lang="en-US" sz="800" b="1" i="0">
              <a:solidFill>
                <a:srgbClr val="646F6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31089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E27B5B"/>
                </a:solidFill>
                <a:latin typeface="Aptos"/>
              </a:rPr>
              <a:t>18  •  ANALYSIS</a:t>
            </a:r>
            <a:endParaRPr sz="950" b="1" i="0">
              <a:solidFill>
                <a:srgbClr val="E27B5B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14984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0B5B52"/>
                </a:solidFill>
                <a:latin typeface="Georgia" panose="02040502050405020303"/>
              </a:rPr>
              <a:t>Comparison with Existing System</a:t>
            </a:r>
            <a:endParaRPr sz="2700" b="1" i="0">
              <a:solidFill>
                <a:srgbClr val="0B5B52"/>
              </a:solidFill>
              <a:latin typeface="Georgia" panose="020405020504050203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64240" y="347472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50" b="1" i="0">
                <a:solidFill>
                  <a:srgbClr val="646F6B"/>
                </a:solidFill>
                <a:latin typeface="Aptos"/>
              </a:rPr>
              <a:t>19</a:t>
            </a:r>
            <a:endParaRPr sz="950" b="1" i="0">
              <a:solidFill>
                <a:srgbClr val="646F6B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8368" y="1261872"/>
            <a:ext cx="658368" cy="41148"/>
          </a:xfrm>
          <a:prstGeom prst="rect">
            <a:avLst/>
          </a:prstGeom>
          <a:solidFill>
            <a:srgbClr val="E27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75488" y="1536192"/>
          <a:ext cx="11201399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3977639"/>
                <a:gridCol w="5166360"/>
              </a:tblGrid>
              <a:tr h="565785">
                <a:tc>
                  <a:txBody>
                    <a:bodyPr/>
                    <a:lstStyle/>
                    <a:p>
                      <a:r>
                        <a:rPr sz="1020" b="1">
                          <a:solidFill>
                            <a:srgbClr val="FFFFFF"/>
                          </a:solidFill>
                          <a:latin typeface="Aptos"/>
                        </a:rPr>
                        <a:t>Feature</a:t>
                      </a:r>
                      <a:endParaRPr sz="1020" b="1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 marL="73152" marR="73152" marT="41148" marB="41148">
                    <a:solidFill>
                      <a:srgbClr val="0B5B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20" b="1">
                          <a:solidFill>
                            <a:srgbClr val="FFFFFF"/>
                          </a:solidFill>
                          <a:latin typeface="Aptos"/>
                        </a:rPr>
                        <a:t>Existing System</a:t>
                      </a:r>
                      <a:endParaRPr sz="1020" b="1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 marL="73152" marR="73152" marT="41148" marB="41148">
                    <a:solidFill>
                      <a:srgbClr val="0B5B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20" b="1">
                          <a:solidFill>
                            <a:srgbClr val="FFFFFF"/>
                          </a:solidFill>
                          <a:latin typeface="Aptos"/>
                        </a:rPr>
                        <a:t>Proposed System</a:t>
                      </a:r>
                      <a:endParaRPr sz="1020" b="1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 marL="73152" marR="73152" marT="41148" marB="41148">
                    <a:solidFill>
                      <a:srgbClr val="0B5B52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r>
                        <a:rPr sz="1020" b="1">
                          <a:solidFill>
                            <a:srgbClr val="2D3734"/>
                          </a:solidFill>
                          <a:latin typeface="Aptos"/>
                        </a:rPr>
                        <a:t>Processing</a:t>
                      </a:r>
                      <a:endParaRPr sz="1020" b="1">
                        <a:solidFill>
                          <a:srgbClr val="2D3734"/>
                        </a:solidFill>
                        <a:latin typeface="Aptos"/>
                      </a:endParaRPr>
                    </a:p>
                  </a:txBody>
                  <a:tcPr marL="73152" marR="73152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20" b="0">
                          <a:solidFill>
                            <a:srgbClr val="2D3734"/>
                          </a:solidFill>
                          <a:latin typeface="Aptos"/>
                        </a:rPr>
                        <a:t>Manual / fragmented</a:t>
                      </a:r>
                      <a:endParaRPr sz="1020" b="0">
                        <a:solidFill>
                          <a:srgbClr val="2D3734"/>
                        </a:solidFill>
                        <a:latin typeface="Aptos"/>
                      </a:endParaRPr>
                    </a:p>
                  </a:txBody>
                  <a:tcPr marL="73152" marR="73152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20" b="0">
                          <a:solidFill>
                            <a:srgbClr val="2D3734"/>
                          </a:solidFill>
                          <a:latin typeface="Aptos"/>
                        </a:rPr>
                        <a:t>Centralized digital workflow</a:t>
                      </a:r>
                      <a:endParaRPr sz="1020" b="0">
                        <a:solidFill>
                          <a:srgbClr val="2D3734"/>
                        </a:solidFill>
                        <a:latin typeface="Aptos"/>
                      </a:endParaRPr>
                    </a:p>
                  </a:txBody>
                  <a:tcPr marL="73152" marR="73152" marT="41148" marB="41148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r>
                        <a:rPr sz="1020" b="1">
                          <a:solidFill>
                            <a:srgbClr val="2D3734"/>
                          </a:solidFill>
                          <a:latin typeface="Aptos"/>
                        </a:rPr>
                        <a:t>Record Access</a:t>
                      </a:r>
                      <a:endParaRPr sz="1020" b="1">
                        <a:solidFill>
                          <a:srgbClr val="2D3734"/>
                        </a:solidFill>
                        <a:latin typeface="Aptos"/>
                      </a:endParaRPr>
                    </a:p>
                  </a:txBody>
                  <a:tcPr marL="73152" marR="73152" marT="41148" marB="41148">
                    <a:solidFill>
                      <a:srgbClr val="F1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20" b="0">
                          <a:solidFill>
                            <a:srgbClr val="2D3734"/>
                          </a:solidFill>
                          <a:latin typeface="Aptos"/>
                        </a:rPr>
                        <a:t>Separate records</a:t>
                      </a:r>
                      <a:endParaRPr sz="1020" b="0">
                        <a:solidFill>
                          <a:srgbClr val="2D3734"/>
                        </a:solidFill>
                        <a:latin typeface="Aptos"/>
                      </a:endParaRPr>
                    </a:p>
                  </a:txBody>
                  <a:tcPr marL="73152" marR="73152" marT="41148" marB="41148">
                    <a:solidFill>
                      <a:srgbClr val="F1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20" b="0">
                          <a:solidFill>
                            <a:srgbClr val="2D3734"/>
                          </a:solidFill>
                          <a:latin typeface="Aptos"/>
                        </a:rPr>
                        <a:t>Role-based access to structured records</a:t>
                      </a:r>
                      <a:endParaRPr sz="1020" b="0">
                        <a:solidFill>
                          <a:srgbClr val="2D3734"/>
                        </a:solidFill>
                        <a:latin typeface="Aptos"/>
                      </a:endParaRPr>
                    </a:p>
                  </a:txBody>
                  <a:tcPr marL="73152" marR="73152" marT="41148" marB="41148">
                    <a:solidFill>
                      <a:srgbClr val="F1F6F4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r>
                        <a:rPr sz="1020" b="1">
                          <a:solidFill>
                            <a:srgbClr val="2D3734"/>
                          </a:solidFill>
                          <a:latin typeface="Aptos"/>
                        </a:rPr>
                        <a:t>Vaccination</a:t>
                      </a:r>
                      <a:endParaRPr sz="1020" b="1">
                        <a:solidFill>
                          <a:srgbClr val="2D3734"/>
                        </a:solidFill>
                        <a:latin typeface="Aptos"/>
                      </a:endParaRPr>
                    </a:p>
                  </a:txBody>
                  <a:tcPr marL="73152" marR="73152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20" b="0">
                          <a:solidFill>
                            <a:srgbClr val="2D3734"/>
                          </a:solidFill>
                          <a:latin typeface="Aptos"/>
                        </a:rPr>
                        <a:t>Manual tracking</a:t>
                      </a:r>
                      <a:endParaRPr sz="1020" b="0">
                        <a:solidFill>
                          <a:srgbClr val="2D3734"/>
                        </a:solidFill>
                        <a:latin typeface="Aptos"/>
                      </a:endParaRPr>
                    </a:p>
                  </a:txBody>
                  <a:tcPr marL="73152" marR="73152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20" b="0">
                          <a:solidFill>
                            <a:srgbClr val="2D3734"/>
                          </a:solidFill>
                          <a:latin typeface="Aptos"/>
                        </a:rPr>
                        <a:t>Schedule templates + tracking</a:t>
                      </a:r>
                      <a:endParaRPr sz="1020" b="0">
                        <a:solidFill>
                          <a:srgbClr val="2D3734"/>
                        </a:solidFill>
                        <a:latin typeface="Aptos"/>
                      </a:endParaRPr>
                    </a:p>
                  </a:txBody>
                  <a:tcPr marL="73152" marR="73152" marT="41148" marB="41148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r>
                        <a:rPr sz="1020" b="1">
                          <a:solidFill>
                            <a:srgbClr val="2D3734"/>
                          </a:solidFill>
                          <a:latin typeface="Aptos"/>
                        </a:rPr>
                        <a:t>Appointments</a:t>
                      </a:r>
                      <a:endParaRPr sz="1020" b="1">
                        <a:solidFill>
                          <a:srgbClr val="2D3734"/>
                        </a:solidFill>
                        <a:latin typeface="Aptos"/>
                      </a:endParaRPr>
                    </a:p>
                  </a:txBody>
                  <a:tcPr marL="73152" marR="73152" marT="41148" marB="41148">
                    <a:solidFill>
                      <a:srgbClr val="F1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20" b="0">
                          <a:solidFill>
                            <a:srgbClr val="2D3734"/>
                          </a:solidFill>
                          <a:latin typeface="Aptos"/>
                        </a:rPr>
                        <a:t>Separate coordination</a:t>
                      </a:r>
                      <a:endParaRPr sz="1020" b="0">
                        <a:solidFill>
                          <a:srgbClr val="2D3734"/>
                        </a:solidFill>
                        <a:latin typeface="Aptos"/>
                      </a:endParaRPr>
                    </a:p>
                  </a:txBody>
                  <a:tcPr marL="73152" marR="73152" marT="41148" marB="41148">
                    <a:solidFill>
                      <a:srgbClr val="F1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20" b="0">
                          <a:solidFill>
                            <a:srgbClr val="2D3734"/>
                          </a:solidFill>
                          <a:latin typeface="Aptos"/>
                        </a:rPr>
                        <a:t>Availability + booking + status</a:t>
                      </a:r>
                      <a:endParaRPr sz="1020" b="0">
                        <a:solidFill>
                          <a:srgbClr val="2D3734"/>
                        </a:solidFill>
                        <a:latin typeface="Aptos"/>
                      </a:endParaRPr>
                    </a:p>
                  </a:txBody>
                  <a:tcPr marL="73152" marR="73152" marT="41148" marB="41148">
                    <a:solidFill>
                      <a:srgbClr val="F1F6F4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r>
                        <a:rPr sz="1020" b="1">
                          <a:solidFill>
                            <a:srgbClr val="2D3734"/>
                          </a:solidFill>
                          <a:latin typeface="Aptos"/>
                        </a:rPr>
                        <a:t>Security</a:t>
                      </a:r>
                      <a:endParaRPr sz="1020" b="1">
                        <a:solidFill>
                          <a:srgbClr val="2D3734"/>
                        </a:solidFill>
                        <a:latin typeface="Aptos"/>
                      </a:endParaRPr>
                    </a:p>
                  </a:txBody>
                  <a:tcPr marL="73152" marR="73152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20" b="0">
                          <a:solidFill>
                            <a:srgbClr val="2D3734"/>
                          </a:solidFill>
                          <a:latin typeface="Aptos"/>
                        </a:rPr>
                        <a:t>Limited role separation</a:t>
                      </a:r>
                      <a:endParaRPr sz="1020" b="0">
                        <a:solidFill>
                          <a:srgbClr val="2D3734"/>
                        </a:solidFill>
                        <a:latin typeface="Aptos"/>
                      </a:endParaRPr>
                    </a:p>
                  </a:txBody>
                  <a:tcPr marL="73152" marR="73152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20" b="0">
                          <a:solidFill>
                            <a:srgbClr val="2D3734"/>
                          </a:solidFill>
                          <a:latin typeface="Aptos"/>
                        </a:rPr>
                        <a:t>Role-based authentication &amp; access control</a:t>
                      </a:r>
                      <a:endParaRPr sz="1020" b="0">
                        <a:solidFill>
                          <a:srgbClr val="2D3734"/>
                        </a:solidFill>
                        <a:latin typeface="Aptos"/>
                      </a:endParaRPr>
                    </a:p>
                  </a:txBody>
                  <a:tcPr marL="73152" marR="73152" marT="41148" marB="41148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r>
                        <a:rPr sz="1020" b="1">
                          <a:solidFill>
                            <a:srgbClr val="2D3734"/>
                          </a:solidFill>
                          <a:latin typeface="Aptos"/>
                        </a:rPr>
                        <a:t>Accessibility</a:t>
                      </a:r>
                      <a:endParaRPr sz="1020" b="1">
                        <a:solidFill>
                          <a:srgbClr val="2D3734"/>
                        </a:solidFill>
                        <a:latin typeface="Aptos"/>
                      </a:endParaRPr>
                    </a:p>
                  </a:txBody>
                  <a:tcPr marL="73152" marR="73152" marT="41148" marB="41148">
                    <a:solidFill>
                      <a:srgbClr val="F1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20" b="0">
                          <a:solidFill>
                            <a:srgbClr val="2D3734"/>
                          </a:solidFill>
                          <a:latin typeface="Aptos"/>
                        </a:rPr>
                        <a:t>Information scattered</a:t>
                      </a:r>
                      <a:endParaRPr sz="1020" b="0">
                        <a:solidFill>
                          <a:srgbClr val="2D3734"/>
                        </a:solidFill>
                        <a:latin typeface="Aptos"/>
                      </a:endParaRPr>
                    </a:p>
                  </a:txBody>
                  <a:tcPr marL="73152" marR="73152" marT="41148" marB="41148">
                    <a:solidFill>
                      <a:srgbClr val="F1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20" b="0">
                          <a:solidFill>
                            <a:srgbClr val="2D3734"/>
                          </a:solidFill>
                          <a:latin typeface="Aptos"/>
                        </a:rPr>
                        <a:t>Relevant information in one application</a:t>
                      </a:r>
                      <a:endParaRPr sz="1020" b="0">
                        <a:solidFill>
                          <a:srgbClr val="2D3734"/>
                        </a:solidFill>
                        <a:latin typeface="Aptos"/>
                      </a:endParaRPr>
                    </a:p>
                  </a:txBody>
                  <a:tcPr marL="73152" marR="73152" marT="41148" marB="41148">
                    <a:solidFill>
                      <a:srgbClr val="F1F6F4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r>
                        <a:rPr sz="1020" b="1">
                          <a:solidFill>
                            <a:srgbClr val="2D3734"/>
                          </a:solidFill>
                          <a:latin typeface="Aptos"/>
                        </a:rPr>
                        <a:t>Reporting</a:t>
                      </a:r>
                      <a:endParaRPr sz="1020" b="1">
                        <a:solidFill>
                          <a:srgbClr val="2D3734"/>
                        </a:solidFill>
                        <a:latin typeface="Aptos"/>
                      </a:endParaRPr>
                    </a:p>
                  </a:txBody>
                  <a:tcPr marL="73152" marR="73152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20" b="0">
                          <a:solidFill>
                            <a:srgbClr val="2D3734"/>
                          </a:solidFill>
                          <a:latin typeface="Aptos"/>
                        </a:rPr>
                        <a:t>Manual aggregation</a:t>
                      </a:r>
                      <a:endParaRPr sz="1020" b="0">
                        <a:solidFill>
                          <a:srgbClr val="2D3734"/>
                        </a:solidFill>
                        <a:latin typeface="Aptos"/>
                      </a:endParaRPr>
                    </a:p>
                  </a:txBody>
                  <a:tcPr marL="73152" marR="73152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20" b="0">
                          <a:solidFill>
                            <a:srgbClr val="2D3734"/>
                          </a:solidFill>
                          <a:latin typeface="Aptos"/>
                        </a:rPr>
                        <a:t>Dashboard + reports + charts</a:t>
                      </a:r>
                      <a:endParaRPr sz="1020" b="0">
                        <a:solidFill>
                          <a:srgbClr val="2D3734"/>
                        </a:solidFill>
                        <a:latin typeface="Aptos"/>
                      </a:endParaRPr>
                    </a:p>
                  </a:txBody>
                  <a:tcPr marL="73152" marR="73152" marT="41148" marB="4114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6144768"/>
            <a:ext cx="107899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00" b="0" i="1">
                <a:solidFill>
                  <a:srgbClr val="646F6B"/>
                </a:solidFill>
                <a:latin typeface="Aptos"/>
              </a:rPr>
              <a:t>Comparison reflects the workflow targeted by MARGAM; it does not claim measured clinical outcome improvement.</a:t>
            </a:r>
            <a:endParaRPr sz="900" b="0" i="1">
              <a:solidFill>
                <a:srgbClr val="646F6B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8368" y="6537960"/>
            <a:ext cx="457200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50" b="1" i="0">
                <a:solidFill>
                  <a:srgbClr val="646F6B"/>
                </a:solidFill>
                <a:latin typeface="Aptos"/>
              </a:rPr>
              <a:t>MARGAM  •  MCA FINAL YEAR MINI PROJECT</a:t>
            </a:r>
            <a:endParaRPr sz="750" b="1" i="0">
              <a:solidFill>
                <a:srgbClr val="646F6B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064240" y="6519672"/>
            <a:ext cx="457200" cy="15811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lang="en-US" sz="800" b="1" i="0">
                <a:solidFill>
                  <a:srgbClr val="646F6B"/>
                </a:solidFill>
                <a:latin typeface="Aptos"/>
              </a:rPr>
              <a:t>28</a:t>
            </a:r>
            <a:endParaRPr lang="en-US" sz="800" b="1" i="0">
              <a:solidFill>
                <a:srgbClr val="646F6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31089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E27B5B"/>
                </a:solidFill>
                <a:latin typeface="Aptos"/>
              </a:rPr>
              <a:t>19  •  VALIDATION</a:t>
            </a:r>
            <a:endParaRPr sz="950" b="1" i="0">
              <a:solidFill>
                <a:srgbClr val="E27B5B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14984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0B5B52"/>
                </a:solidFill>
                <a:latin typeface="Georgia" panose="02040502050405020303"/>
              </a:rPr>
              <a:t>Testing</a:t>
            </a:r>
            <a:endParaRPr sz="2700" b="1" i="0">
              <a:solidFill>
                <a:srgbClr val="0B5B52"/>
              </a:solidFill>
              <a:latin typeface="Georgia" panose="020405020504050203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64240" y="347472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50" b="1" i="0">
                <a:solidFill>
                  <a:srgbClr val="646F6B"/>
                </a:solidFill>
                <a:latin typeface="Aptos"/>
              </a:rPr>
              <a:t>20</a:t>
            </a:r>
            <a:endParaRPr sz="950" b="1" i="0">
              <a:solidFill>
                <a:srgbClr val="646F6B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8368" y="1261872"/>
            <a:ext cx="658368" cy="41148"/>
          </a:xfrm>
          <a:prstGeom prst="rect">
            <a:avLst/>
          </a:prstGeom>
          <a:solidFill>
            <a:srgbClr val="E27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463040"/>
            <a:ext cx="1051560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50" b="0" i="0">
                <a:solidFill>
                  <a:srgbClr val="2D3734"/>
                </a:solidFill>
                <a:latin typeface="Aptos"/>
              </a:rPr>
              <a:t>Automated test coverage is present across the main Django applications. The table shows representative cases.</a:t>
            </a:r>
            <a:endParaRPr sz="1450" b="0" i="0">
              <a:solidFill>
                <a:srgbClr val="2D3734"/>
              </a:solidFill>
              <a:latin typeface="Aptos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38912" y="2011680"/>
          <a:ext cx="1129284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2926080"/>
                <a:gridCol w="3931920"/>
                <a:gridCol w="2103120"/>
              </a:tblGrid>
              <a:tr h="476794">
                <a:tc>
                  <a:txBody>
                    <a:bodyPr/>
                    <a:lstStyle/>
                    <a:p>
                      <a:r>
                        <a:rPr sz="920" b="1">
                          <a:solidFill>
                            <a:srgbClr val="FFFFFF"/>
                          </a:solidFill>
                          <a:latin typeface="Aptos"/>
                        </a:rPr>
                        <a:t>Test Case</a:t>
                      </a:r>
                      <a:endParaRPr sz="920" b="1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 marL="54864" marR="54864" marT="32004" marB="32004">
                    <a:solidFill>
                      <a:srgbClr val="0B5B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20" b="1">
                          <a:solidFill>
                            <a:srgbClr val="FFFFFF"/>
                          </a:solidFill>
                          <a:latin typeface="Aptos"/>
                        </a:rPr>
                        <a:t>Expected Result</a:t>
                      </a:r>
                      <a:endParaRPr sz="920" b="1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 marL="54864" marR="54864" marT="32004" marB="32004">
                    <a:solidFill>
                      <a:srgbClr val="0B5B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20" b="1">
                          <a:solidFill>
                            <a:srgbClr val="FFFFFF"/>
                          </a:solidFill>
                          <a:latin typeface="Aptos"/>
                        </a:rPr>
                        <a:t>Validation in Project</a:t>
                      </a:r>
                      <a:endParaRPr sz="920" b="1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 marL="54864" marR="54864" marT="32004" marB="32004">
                    <a:solidFill>
                      <a:srgbClr val="0B5B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20" b="1">
                          <a:solidFill>
                            <a:srgbClr val="FFFFFF"/>
                          </a:solidFill>
                          <a:latin typeface="Aptos"/>
                        </a:rPr>
                        <a:t>Status</a:t>
                      </a:r>
                      <a:endParaRPr sz="920" b="1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 marL="54864" marR="54864" marT="32004" marB="32004">
                    <a:solidFill>
                      <a:srgbClr val="0B5B52"/>
                    </a:solidFill>
                  </a:tcPr>
                </a:tc>
              </a:tr>
              <a:tr h="476794">
                <a:tc>
                  <a:txBody>
                    <a:bodyPr/>
                    <a:lstStyle/>
                    <a:p>
                      <a:r>
                        <a:rPr sz="920" b="0">
                          <a:solidFill>
                            <a:srgbClr val="2D3734"/>
                          </a:solidFill>
                          <a:latin typeface="Aptos"/>
                        </a:rPr>
                        <a:t>Valid Login</a:t>
                      </a:r>
                      <a:endParaRPr sz="920" b="0">
                        <a:solidFill>
                          <a:srgbClr val="2D3734"/>
                        </a:solidFill>
                        <a:latin typeface="Aptos"/>
                      </a:endParaRP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20" b="0">
                          <a:solidFill>
                            <a:srgbClr val="2D3734"/>
                          </a:solidFill>
                          <a:latin typeface="Aptos"/>
                        </a:rPr>
                        <a:t>Login successful</a:t>
                      </a:r>
                      <a:endParaRPr sz="920" b="0">
                        <a:solidFill>
                          <a:srgbClr val="2D3734"/>
                        </a:solidFill>
                        <a:latin typeface="Aptos"/>
                      </a:endParaRP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20" b="0">
                          <a:solidFill>
                            <a:srgbClr val="2D3734"/>
                          </a:solidFill>
                          <a:latin typeface="Aptos"/>
                        </a:rPr>
                        <a:t>Automated test method defined</a:t>
                      </a:r>
                      <a:endParaRPr sz="920" b="0">
                        <a:solidFill>
                          <a:srgbClr val="2D3734"/>
                        </a:solidFill>
                        <a:latin typeface="Aptos"/>
                      </a:endParaRP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20" b="0">
                          <a:solidFill>
                            <a:srgbClr val="2D3734"/>
                          </a:solidFill>
                          <a:latin typeface="Aptos"/>
                        </a:rPr>
                        <a:t>Covered</a:t>
                      </a:r>
                      <a:endParaRPr sz="920" b="0">
                        <a:solidFill>
                          <a:srgbClr val="2D3734"/>
                        </a:solidFill>
                        <a:latin typeface="Aptos"/>
                      </a:endParaRP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</a:tr>
              <a:tr h="476794">
                <a:tc>
                  <a:txBody>
                    <a:bodyPr/>
                    <a:lstStyle/>
                    <a:p>
                      <a:r>
                        <a:rPr sz="920" b="0">
                          <a:solidFill>
                            <a:srgbClr val="2D3734"/>
                          </a:solidFill>
                          <a:latin typeface="Aptos"/>
                        </a:rPr>
                        <a:t>Invalid Login</a:t>
                      </a:r>
                      <a:endParaRPr sz="920" b="0">
                        <a:solidFill>
                          <a:srgbClr val="2D3734"/>
                        </a:solidFill>
                        <a:latin typeface="Aptos"/>
                      </a:endParaRPr>
                    </a:p>
                  </a:txBody>
                  <a:tcPr marL="54864" marR="54864" marT="32004" marB="32004">
                    <a:solidFill>
                      <a:srgbClr val="F1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20" b="0">
                          <a:solidFill>
                            <a:srgbClr val="2D3734"/>
                          </a:solidFill>
                          <a:latin typeface="Aptos"/>
                        </a:rPr>
                        <a:t>Error / login rejected</a:t>
                      </a:r>
                      <a:endParaRPr sz="920" b="0">
                        <a:solidFill>
                          <a:srgbClr val="2D3734"/>
                        </a:solidFill>
                        <a:latin typeface="Aptos"/>
                      </a:endParaRPr>
                    </a:p>
                  </a:txBody>
                  <a:tcPr marL="54864" marR="54864" marT="32004" marB="32004">
                    <a:solidFill>
                      <a:srgbClr val="F1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20" b="0">
                          <a:solidFill>
                            <a:srgbClr val="2D3734"/>
                          </a:solidFill>
                          <a:latin typeface="Aptos"/>
                        </a:rPr>
                        <a:t>Automated test method defined</a:t>
                      </a:r>
                      <a:endParaRPr sz="920" b="0">
                        <a:solidFill>
                          <a:srgbClr val="2D3734"/>
                        </a:solidFill>
                        <a:latin typeface="Aptos"/>
                      </a:endParaRPr>
                    </a:p>
                  </a:txBody>
                  <a:tcPr marL="54864" marR="54864" marT="32004" marB="32004">
                    <a:solidFill>
                      <a:srgbClr val="F1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20" b="0">
                          <a:solidFill>
                            <a:srgbClr val="2D3734"/>
                          </a:solidFill>
                          <a:latin typeface="Aptos"/>
                        </a:rPr>
                        <a:t>Covered</a:t>
                      </a:r>
                      <a:endParaRPr sz="920" b="0">
                        <a:solidFill>
                          <a:srgbClr val="2D3734"/>
                        </a:solidFill>
                        <a:latin typeface="Aptos"/>
                      </a:endParaRPr>
                    </a:p>
                  </a:txBody>
                  <a:tcPr marL="54864" marR="54864" marT="32004" marB="32004">
                    <a:solidFill>
                      <a:srgbClr val="F1F6F4"/>
                    </a:solidFill>
                  </a:tcPr>
                </a:tc>
              </a:tr>
              <a:tr h="476794">
                <a:tc>
                  <a:txBody>
                    <a:bodyPr/>
                    <a:lstStyle/>
                    <a:p>
                      <a:r>
                        <a:rPr sz="920" b="0">
                          <a:solidFill>
                            <a:srgbClr val="2D3734"/>
                          </a:solidFill>
                          <a:latin typeface="Aptos"/>
                        </a:rPr>
                        <a:t>Unauthorized Dashboard Access</a:t>
                      </a:r>
                      <a:endParaRPr sz="920" b="0">
                        <a:solidFill>
                          <a:srgbClr val="2D3734"/>
                        </a:solidFill>
                        <a:latin typeface="Aptos"/>
                      </a:endParaRP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20" b="0">
                          <a:solidFill>
                            <a:srgbClr val="2D3734"/>
                          </a:solidFill>
                          <a:latin typeface="Aptos"/>
                        </a:rPr>
                        <a:t>Access restricted</a:t>
                      </a:r>
                      <a:endParaRPr sz="920" b="0">
                        <a:solidFill>
                          <a:srgbClr val="2D3734"/>
                        </a:solidFill>
                        <a:latin typeface="Aptos"/>
                      </a:endParaRP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20" b="0">
                          <a:solidFill>
                            <a:srgbClr val="2D3734"/>
                          </a:solidFill>
                          <a:latin typeface="Aptos"/>
                        </a:rPr>
                        <a:t>Automated test method defined</a:t>
                      </a:r>
                      <a:endParaRPr sz="920" b="0">
                        <a:solidFill>
                          <a:srgbClr val="2D3734"/>
                        </a:solidFill>
                        <a:latin typeface="Aptos"/>
                      </a:endParaRP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20" b="0">
                          <a:solidFill>
                            <a:srgbClr val="2D3734"/>
                          </a:solidFill>
                          <a:latin typeface="Aptos"/>
                        </a:rPr>
                        <a:t>Covered</a:t>
                      </a:r>
                      <a:endParaRPr sz="920" b="0">
                        <a:solidFill>
                          <a:srgbClr val="2D3734"/>
                        </a:solidFill>
                        <a:latin typeface="Aptos"/>
                      </a:endParaRP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</a:tr>
              <a:tr h="476794">
                <a:tc>
                  <a:txBody>
                    <a:bodyPr/>
                    <a:lstStyle/>
                    <a:p>
                      <a:r>
                        <a:rPr sz="920" b="0">
                          <a:solidFill>
                            <a:srgbClr val="2D3734"/>
                          </a:solidFill>
                          <a:latin typeface="Aptos"/>
                        </a:rPr>
                        <a:t>Vaccination Workflow</a:t>
                      </a:r>
                      <a:endParaRPr sz="920" b="0">
                        <a:solidFill>
                          <a:srgbClr val="2D3734"/>
                        </a:solidFill>
                        <a:latin typeface="Aptos"/>
                      </a:endParaRPr>
                    </a:p>
                  </a:txBody>
                  <a:tcPr marL="54864" marR="54864" marT="32004" marB="32004">
                    <a:solidFill>
                      <a:srgbClr val="F1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20" b="0">
                          <a:solidFill>
                            <a:srgbClr val="2D3734"/>
                          </a:solidFill>
                          <a:latin typeface="Aptos"/>
                        </a:rPr>
                        <a:t>Vaccination records created / updated</a:t>
                      </a:r>
                      <a:endParaRPr sz="920" b="0">
                        <a:solidFill>
                          <a:srgbClr val="2D3734"/>
                        </a:solidFill>
                        <a:latin typeface="Aptos"/>
                      </a:endParaRPr>
                    </a:p>
                  </a:txBody>
                  <a:tcPr marL="54864" marR="54864" marT="32004" marB="32004">
                    <a:solidFill>
                      <a:srgbClr val="F1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20" b="0">
                          <a:solidFill>
                            <a:srgbClr val="2D3734"/>
                          </a:solidFill>
                          <a:latin typeface="Aptos"/>
                        </a:rPr>
                        <a:t>Automated workflow test defined</a:t>
                      </a:r>
                      <a:endParaRPr sz="920" b="0">
                        <a:solidFill>
                          <a:srgbClr val="2D3734"/>
                        </a:solidFill>
                        <a:latin typeface="Aptos"/>
                      </a:endParaRPr>
                    </a:p>
                  </a:txBody>
                  <a:tcPr marL="54864" marR="54864" marT="32004" marB="32004">
                    <a:solidFill>
                      <a:srgbClr val="F1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20" b="0">
                          <a:solidFill>
                            <a:srgbClr val="2D3734"/>
                          </a:solidFill>
                          <a:latin typeface="Aptos"/>
                        </a:rPr>
                        <a:t>Covered</a:t>
                      </a:r>
                      <a:endParaRPr sz="920" b="0">
                        <a:solidFill>
                          <a:srgbClr val="2D3734"/>
                        </a:solidFill>
                        <a:latin typeface="Aptos"/>
                      </a:endParaRPr>
                    </a:p>
                  </a:txBody>
                  <a:tcPr marL="54864" marR="54864" marT="32004" marB="32004">
                    <a:solidFill>
                      <a:srgbClr val="F1F6F4"/>
                    </a:solidFill>
                  </a:tcPr>
                </a:tc>
              </a:tr>
              <a:tr h="476794">
                <a:tc>
                  <a:txBody>
                    <a:bodyPr/>
                    <a:lstStyle/>
                    <a:p>
                      <a:r>
                        <a:rPr sz="920" b="0">
                          <a:solidFill>
                            <a:srgbClr val="2D3734"/>
                          </a:solidFill>
                          <a:latin typeface="Aptos"/>
                        </a:rPr>
                        <a:t>Appointment Workflow</a:t>
                      </a:r>
                      <a:endParaRPr sz="920" b="0">
                        <a:solidFill>
                          <a:srgbClr val="2D3734"/>
                        </a:solidFill>
                        <a:latin typeface="Aptos"/>
                      </a:endParaRP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20" b="0">
                          <a:solidFill>
                            <a:srgbClr val="2D3734"/>
                          </a:solidFill>
                          <a:latin typeface="Aptos"/>
                        </a:rPr>
                        <a:t>Booking status changes correctly</a:t>
                      </a:r>
                      <a:endParaRPr sz="920" b="0">
                        <a:solidFill>
                          <a:srgbClr val="2D3734"/>
                        </a:solidFill>
                        <a:latin typeface="Aptos"/>
                      </a:endParaRP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20" b="0">
                          <a:solidFill>
                            <a:srgbClr val="2D3734"/>
                          </a:solidFill>
                          <a:latin typeface="Aptos"/>
                        </a:rPr>
                        <a:t>Automated workflow test defined</a:t>
                      </a:r>
                      <a:endParaRPr sz="920" b="0">
                        <a:solidFill>
                          <a:srgbClr val="2D3734"/>
                        </a:solidFill>
                        <a:latin typeface="Aptos"/>
                      </a:endParaRP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20" b="0">
                          <a:solidFill>
                            <a:srgbClr val="2D3734"/>
                          </a:solidFill>
                          <a:latin typeface="Aptos"/>
                        </a:rPr>
                        <a:t>Covered</a:t>
                      </a:r>
                      <a:endParaRPr sz="920" b="0">
                        <a:solidFill>
                          <a:srgbClr val="2D3734"/>
                        </a:solidFill>
                        <a:latin typeface="Aptos"/>
                      </a:endParaRP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</a:tr>
              <a:tr h="476796">
                <a:tc>
                  <a:txBody>
                    <a:bodyPr/>
                    <a:lstStyle/>
                    <a:p>
                      <a:r>
                        <a:rPr sz="920" b="0">
                          <a:solidFill>
                            <a:srgbClr val="2D3734"/>
                          </a:solidFill>
                          <a:latin typeface="Aptos"/>
                        </a:rPr>
                        <a:t>Data Isolation</a:t>
                      </a:r>
                      <a:endParaRPr sz="920" b="0">
                        <a:solidFill>
                          <a:srgbClr val="2D3734"/>
                        </a:solidFill>
                        <a:latin typeface="Aptos"/>
                      </a:endParaRPr>
                    </a:p>
                  </a:txBody>
                  <a:tcPr marL="54864" marR="54864" marT="32004" marB="32004">
                    <a:solidFill>
                      <a:srgbClr val="F1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20" b="0">
                          <a:solidFill>
                            <a:srgbClr val="2D3734"/>
                          </a:solidFill>
                          <a:latin typeface="Aptos"/>
                        </a:rPr>
                        <a:t>User cannot access another user's data</a:t>
                      </a:r>
                      <a:endParaRPr sz="920" b="0">
                        <a:solidFill>
                          <a:srgbClr val="2D3734"/>
                        </a:solidFill>
                        <a:latin typeface="Aptos"/>
                      </a:endParaRPr>
                    </a:p>
                  </a:txBody>
                  <a:tcPr marL="54864" marR="54864" marT="32004" marB="32004">
                    <a:solidFill>
                      <a:srgbClr val="F1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20" b="0">
                          <a:solidFill>
                            <a:srgbClr val="2D3734"/>
                          </a:solidFill>
                          <a:latin typeface="Aptos"/>
                        </a:rPr>
                        <a:t>Access-isolation tests defined</a:t>
                      </a:r>
                      <a:endParaRPr sz="920" b="0">
                        <a:solidFill>
                          <a:srgbClr val="2D3734"/>
                        </a:solidFill>
                        <a:latin typeface="Aptos"/>
                      </a:endParaRPr>
                    </a:p>
                  </a:txBody>
                  <a:tcPr marL="54864" marR="54864" marT="32004" marB="32004">
                    <a:solidFill>
                      <a:srgbClr val="F1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20" b="0">
                          <a:solidFill>
                            <a:srgbClr val="2D3734"/>
                          </a:solidFill>
                          <a:latin typeface="Aptos"/>
                        </a:rPr>
                        <a:t>Covered</a:t>
                      </a:r>
                      <a:endParaRPr sz="920" b="0">
                        <a:solidFill>
                          <a:srgbClr val="2D3734"/>
                        </a:solidFill>
                        <a:latin typeface="Aptos"/>
                      </a:endParaRPr>
                    </a:p>
                  </a:txBody>
                  <a:tcPr marL="54864" marR="54864" marT="32004" marB="32004">
                    <a:solidFill>
                      <a:srgbClr val="F1F6F4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806440"/>
            <a:ext cx="1092708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40" b="1" i="1">
                <a:solidFill>
                  <a:srgbClr val="E27B5B"/>
                </a:solidFill>
                <a:latin typeface="Aptos"/>
              </a:rPr>
              <a:t>38 test methods are present in the supplied source. Execution was not independently run in this presentation-building environment, so no unverified “Pass” claim is shown.</a:t>
            </a:r>
            <a:endParaRPr sz="940" b="1" i="1">
              <a:solidFill>
                <a:srgbClr val="E27B5B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8368" y="6537960"/>
            <a:ext cx="457200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50" b="1" i="0">
                <a:solidFill>
                  <a:srgbClr val="646F6B"/>
                </a:solidFill>
                <a:latin typeface="Aptos"/>
              </a:rPr>
              <a:t>MARGAM  •  MCA FINAL YEAR MINI PROJECT</a:t>
            </a:r>
            <a:endParaRPr sz="750" b="1" i="0">
              <a:solidFill>
                <a:srgbClr val="646F6B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064240" y="6519672"/>
            <a:ext cx="457200" cy="15811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lang="en-US" sz="800" b="1" i="0">
                <a:solidFill>
                  <a:srgbClr val="646F6B"/>
                </a:solidFill>
                <a:latin typeface="Aptos"/>
              </a:rPr>
              <a:t>29</a:t>
            </a:r>
            <a:endParaRPr lang="en-US" sz="800" b="1" i="0">
              <a:solidFill>
                <a:srgbClr val="646F6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5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31089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BEDDD5"/>
                </a:solidFill>
                <a:latin typeface="Aptos"/>
              </a:rPr>
              <a:t>20  •  LIVE WALKTHROUGH</a:t>
            </a:r>
            <a:endParaRPr sz="950" b="1" i="0">
              <a:solidFill>
                <a:srgbClr val="BEDDD5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763135" y="186055"/>
            <a:ext cx="2852420" cy="45085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Georgia" panose="02040502050405020303"/>
              </a:rPr>
              <a:t>Demo Video</a:t>
            </a:r>
            <a:endParaRPr sz="2700" b="1" i="0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64240" y="347472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50" b="1" i="0">
                <a:solidFill>
                  <a:srgbClr val="BEDDD5"/>
                </a:solidFill>
                <a:latin typeface="Aptos"/>
              </a:rPr>
              <a:t>21</a:t>
            </a:r>
            <a:endParaRPr sz="950" b="1" i="0">
              <a:solidFill>
                <a:srgbClr val="BEDDD5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763008" y="595757"/>
            <a:ext cx="658368" cy="41148"/>
          </a:xfrm>
          <a:prstGeom prst="rect">
            <a:avLst/>
          </a:prstGeom>
          <a:solidFill>
            <a:srgbClr val="E27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6537960"/>
            <a:ext cx="457200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50" b="1" i="0">
                <a:solidFill>
                  <a:srgbClr val="BEDDD5"/>
                </a:solidFill>
                <a:latin typeface="Aptos"/>
              </a:rPr>
              <a:t>MARGAM  •  MCA FINAL YEAR MINI PROJECT</a:t>
            </a:r>
            <a:endParaRPr sz="750" b="1" i="0">
              <a:solidFill>
                <a:srgbClr val="BEDDD5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064240" y="6519672"/>
            <a:ext cx="457200" cy="15811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lang="en-US" sz="800" b="1" i="0">
                <a:solidFill>
                  <a:srgbClr val="BEDDD5"/>
                </a:solidFill>
                <a:latin typeface="Aptos"/>
              </a:rPr>
              <a:t>30</a:t>
            </a:r>
            <a:endParaRPr lang="en-US" sz="800" b="1" i="0">
              <a:solidFill>
                <a:srgbClr val="BEDDD5"/>
              </a:solidFill>
              <a:latin typeface="Apto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E07E5F"/>
                </a:solidFill>
                <a:latin typeface="Aptos"/>
              </a:rPr>
              <a:t>BENEFITS</a:t>
            </a:r>
            <a:endParaRPr sz="1000" b="1" i="0">
              <a:solidFill>
                <a:srgbClr val="E07E5F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9848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0C5B53"/>
                </a:solidFill>
                <a:latin typeface="Georgia" panose="02040502050405020303"/>
              </a:rPr>
              <a:t>Advantages</a:t>
            </a:r>
            <a:endParaRPr sz="2700" b="1" i="0">
              <a:solidFill>
                <a:srgbClr val="0C5B53"/>
              </a:solidFill>
              <a:latin typeface="Georgia" panose="020405020504050203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914400" cy="50292"/>
          </a:xfrm>
          <a:prstGeom prst="rect">
            <a:avLst/>
          </a:prstGeom>
          <a:solidFill>
            <a:srgbClr val="E07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329184"/>
            <a:ext cx="5029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5C6865"/>
                </a:solidFill>
                <a:latin typeface="Aptos"/>
              </a:rPr>
              <a:t>22</a:t>
            </a:r>
            <a:endParaRPr sz="1000" b="1" i="0">
              <a:solidFill>
                <a:srgbClr val="5C6865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38328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2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0392" y="1764792"/>
            <a:ext cx="438912" cy="438912"/>
          </a:xfrm>
          <a:prstGeom prst="ellipse">
            <a:avLst/>
          </a:prstGeom>
          <a:solidFill>
            <a:srgbClr val="DC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792224"/>
            <a:ext cx="438912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0C5B53"/>
                </a:solidFill>
                <a:latin typeface="Aptos"/>
              </a:rPr>
              <a:t>✓</a:t>
            </a:r>
            <a:endParaRPr sz="1100" b="1" i="0">
              <a:solidFill>
                <a:srgbClr val="0C5B53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99032" y="1764792"/>
            <a:ext cx="2505456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0C5B53"/>
                </a:solidFill>
                <a:latin typeface="Aptos"/>
              </a:rPr>
              <a:t>Centralized</a:t>
            </a:r>
            <a:endParaRPr sz="1600" b="1" i="0">
              <a:solidFill>
                <a:srgbClr val="0C5B53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99032" y="2212848"/>
            <a:ext cx="2505456" cy="103327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20" b="0" i="0">
                <a:solidFill>
                  <a:srgbClr val="232826"/>
                </a:solidFill>
                <a:latin typeface="Aptos"/>
              </a:rPr>
              <a:t>One application connects the four project roles and their healthcare workflows.</a:t>
            </a:r>
            <a:endParaRPr sz="1220" b="0" i="0">
              <a:solidFill>
                <a:srgbClr val="232826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389120" y="1600200"/>
            <a:ext cx="338328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2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53712" y="1764792"/>
            <a:ext cx="438912" cy="438912"/>
          </a:xfrm>
          <a:prstGeom prst="ellipse">
            <a:avLst/>
          </a:prstGeom>
          <a:solidFill>
            <a:srgbClr val="DC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792224"/>
            <a:ext cx="438912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0C5B53"/>
                </a:solidFill>
                <a:latin typeface="Aptos"/>
              </a:rPr>
              <a:t>✓</a:t>
            </a:r>
            <a:endParaRPr sz="1100" b="1" i="0">
              <a:solidFill>
                <a:srgbClr val="0C5B53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102352" y="1764792"/>
            <a:ext cx="2505456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0C5B53"/>
                </a:solidFill>
                <a:latin typeface="Aptos"/>
              </a:rPr>
              <a:t>Role-aware</a:t>
            </a:r>
            <a:endParaRPr sz="1600" b="1" i="0">
              <a:solidFill>
                <a:srgbClr val="0C5B53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102352" y="2212848"/>
            <a:ext cx="2505456" cy="103327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20" b="0" i="0">
                <a:solidFill>
                  <a:srgbClr val="232826"/>
                </a:solidFill>
                <a:latin typeface="Aptos"/>
              </a:rPr>
              <a:t>Each stakeholder receives a focused dashboard and permitted actions.</a:t>
            </a:r>
            <a:endParaRPr sz="1220" b="0" i="0">
              <a:solidFill>
                <a:srgbClr val="232826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092440" y="1600200"/>
            <a:ext cx="338328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2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57031" y="1764792"/>
            <a:ext cx="438912" cy="438912"/>
          </a:xfrm>
          <a:prstGeom prst="ellipse">
            <a:avLst/>
          </a:prstGeom>
          <a:solidFill>
            <a:srgbClr val="DC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1" y="1792224"/>
            <a:ext cx="438912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0C5B53"/>
                </a:solidFill>
                <a:latin typeface="Aptos"/>
              </a:rPr>
              <a:t>✓</a:t>
            </a:r>
            <a:endParaRPr sz="1100" b="1" i="0">
              <a:solidFill>
                <a:srgbClr val="0C5B53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805672" y="1764792"/>
            <a:ext cx="2505456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0C5B53"/>
                </a:solidFill>
                <a:latin typeface="Aptos"/>
              </a:rPr>
              <a:t>Automated vaccination</a:t>
            </a:r>
            <a:endParaRPr sz="1600" b="1" i="0">
              <a:solidFill>
                <a:srgbClr val="0C5B53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805672" y="2212848"/>
            <a:ext cx="2505456" cy="103327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20" b="0" i="0">
                <a:solidFill>
                  <a:srgbClr val="232826"/>
                </a:solidFill>
                <a:latin typeface="Aptos"/>
              </a:rPr>
              <a:t>Government schedule templates can generate baby vaccination records automatically.</a:t>
            </a:r>
            <a:endParaRPr sz="1220" b="0" i="0">
              <a:solidFill>
                <a:srgbClr val="232826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85800" y="3749039"/>
            <a:ext cx="338328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2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50392" y="3913631"/>
            <a:ext cx="438912" cy="438912"/>
          </a:xfrm>
          <a:prstGeom prst="ellipse">
            <a:avLst/>
          </a:prstGeom>
          <a:solidFill>
            <a:srgbClr val="DC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3941063"/>
            <a:ext cx="438912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0C5B53"/>
                </a:solidFill>
                <a:latin typeface="Aptos"/>
              </a:rPr>
              <a:t>✓</a:t>
            </a:r>
            <a:endParaRPr sz="1100" b="1" i="0">
              <a:solidFill>
                <a:srgbClr val="0C5B53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399032" y="3913631"/>
            <a:ext cx="2505456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0C5B53"/>
                </a:solidFill>
                <a:latin typeface="Aptos"/>
              </a:rPr>
              <a:t>Better visibility</a:t>
            </a:r>
            <a:endParaRPr sz="1600" b="1" i="0">
              <a:solidFill>
                <a:srgbClr val="0C5B53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399032" y="4361688"/>
            <a:ext cx="2505456" cy="103327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20" b="0" i="0">
                <a:solidFill>
                  <a:srgbClr val="232826"/>
                </a:solidFill>
                <a:latin typeface="Aptos"/>
              </a:rPr>
              <a:t>Dashboards, charts, notifications and reports make project information easier to monitor.</a:t>
            </a:r>
            <a:endParaRPr sz="1220" b="0" i="0">
              <a:solidFill>
                <a:srgbClr val="232826"/>
              </a:solidFill>
              <a:latin typeface="Apto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389120" y="3749039"/>
            <a:ext cx="338328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2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53712" y="3913631"/>
            <a:ext cx="438912" cy="438912"/>
          </a:xfrm>
          <a:prstGeom prst="ellipse">
            <a:avLst/>
          </a:prstGeom>
          <a:solidFill>
            <a:srgbClr val="DC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53712" y="3941063"/>
            <a:ext cx="438912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0C5B53"/>
                </a:solidFill>
                <a:latin typeface="Aptos"/>
              </a:rPr>
              <a:t>✓</a:t>
            </a:r>
            <a:endParaRPr sz="1100" b="1" i="0">
              <a:solidFill>
                <a:srgbClr val="0C5B53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102352" y="3913631"/>
            <a:ext cx="2505456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0C5B53"/>
                </a:solidFill>
                <a:latin typeface="Aptos"/>
              </a:rPr>
              <a:t>Structured follow-up</a:t>
            </a:r>
            <a:endParaRPr sz="1600" b="1" i="0">
              <a:solidFill>
                <a:srgbClr val="0C5B53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102352" y="4361688"/>
            <a:ext cx="2505456" cy="103327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20" b="0" i="0">
                <a:solidFill>
                  <a:srgbClr val="232826"/>
                </a:solidFill>
                <a:latin typeface="Aptos"/>
              </a:rPr>
              <a:t>Appointment statuses and vaccination states make pending actions visible.</a:t>
            </a:r>
            <a:endParaRPr sz="1220" b="0" i="0">
              <a:solidFill>
                <a:srgbClr val="232826"/>
              </a:solidFill>
              <a:latin typeface="Aptos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8092440" y="3749039"/>
            <a:ext cx="338328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2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257031" y="3913631"/>
            <a:ext cx="438912" cy="438912"/>
          </a:xfrm>
          <a:prstGeom prst="ellipse">
            <a:avLst/>
          </a:prstGeom>
          <a:solidFill>
            <a:srgbClr val="DC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57031" y="3941063"/>
            <a:ext cx="438912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0C5B53"/>
                </a:solidFill>
                <a:latin typeface="Aptos"/>
              </a:rPr>
              <a:t>✓</a:t>
            </a:r>
            <a:endParaRPr sz="1100" b="1" i="0">
              <a:solidFill>
                <a:srgbClr val="0C5B53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805672" y="3913631"/>
            <a:ext cx="2505456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0C5B53"/>
                </a:solidFill>
                <a:latin typeface="Aptos"/>
              </a:rPr>
              <a:t>Extensible foundation</a:t>
            </a:r>
            <a:endParaRPr sz="1600" b="1" i="0">
              <a:solidFill>
                <a:srgbClr val="0C5B53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805672" y="4361688"/>
            <a:ext cx="2505456" cy="103327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20" b="0" i="0">
                <a:solidFill>
                  <a:srgbClr val="232826"/>
                </a:solidFill>
                <a:latin typeface="Aptos"/>
              </a:rPr>
              <a:t>Django modularity allows additional healthcare services and integrations to be added later.</a:t>
            </a:r>
            <a:endParaRPr sz="1220" b="0" i="0">
              <a:solidFill>
                <a:srgbClr val="232826"/>
              </a:solidFill>
              <a:latin typeface="Apto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94360" y="6565392"/>
            <a:ext cx="43891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50" b="1" i="0">
                <a:solidFill>
                  <a:srgbClr val="5C6865"/>
                </a:solidFill>
                <a:latin typeface="Aptos"/>
              </a:rPr>
              <a:t>MARGAM • MCA FINAL YEAR MINI PROJECT</a:t>
            </a:r>
            <a:endParaRPr sz="750" b="1" i="0">
              <a:solidFill>
                <a:srgbClr val="5C6865"/>
              </a:solidFill>
              <a:latin typeface="Apto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1064240" y="6537960"/>
            <a:ext cx="502920" cy="15811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lang="en-US" sz="800" b="1" i="0">
                <a:solidFill>
                  <a:srgbClr val="5C6865"/>
                </a:solidFill>
                <a:latin typeface="Aptos"/>
              </a:rPr>
              <a:t>31</a:t>
            </a:r>
            <a:endParaRPr lang="en-US" sz="800" b="1" i="0">
              <a:solidFill>
                <a:srgbClr val="5C6865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31089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E27B5B"/>
                </a:solidFill>
                <a:latin typeface="Aptos"/>
              </a:rPr>
              <a:t>22  •  HONEST ASSESSMENT</a:t>
            </a:r>
            <a:endParaRPr sz="950" b="1" i="0">
              <a:solidFill>
                <a:srgbClr val="E27B5B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14984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0B5B52"/>
                </a:solidFill>
                <a:latin typeface="Georgia" panose="02040502050405020303"/>
              </a:rPr>
              <a:t>Limitations</a:t>
            </a:r>
            <a:endParaRPr sz="2700" b="1" i="0">
              <a:solidFill>
                <a:srgbClr val="0B5B52"/>
              </a:solidFill>
              <a:latin typeface="Georgia" panose="020405020504050203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64240" y="347472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50" b="1" i="0">
                <a:solidFill>
                  <a:srgbClr val="646F6B"/>
                </a:solidFill>
                <a:latin typeface="Aptos"/>
              </a:rPr>
              <a:t>23</a:t>
            </a:r>
            <a:endParaRPr sz="950" b="1" i="0">
              <a:solidFill>
                <a:srgbClr val="646F6B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8368" y="1261872"/>
            <a:ext cx="658368" cy="41148"/>
          </a:xfrm>
          <a:prstGeom prst="rect">
            <a:avLst/>
          </a:prstGeom>
          <a:solidFill>
            <a:srgbClr val="E27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9808" y="1572768"/>
            <a:ext cx="10698480" cy="66751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32688" y="1728216"/>
            <a:ext cx="365760" cy="365760"/>
          </a:xfrm>
          <a:prstGeom prst="roundRect">
            <a:avLst/>
          </a:prstGeom>
          <a:solidFill>
            <a:srgbClr val="FCE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15084"/>
            <a:ext cx="365760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50" b="1" i="0">
                <a:solidFill>
                  <a:srgbClr val="E27B5B"/>
                </a:solidFill>
                <a:latin typeface="Aptos"/>
              </a:rPr>
              <a:t>!</a:t>
            </a:r>
            <a:endParaRPr sz="950" b="1" i="0">
              <a:solidFill>
                <a:srgbClr val="E27B5B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08760" y="1719072"/>
            <a:ext cx="15087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50" b="1" i="0">
                <a:solidFill>
                  <a:srgbClr val="0B5B52"/>
                </a:solidFill>
                <a:latin typeface="Aptos"/>
              </a:rPr>
              <a:t>Web-first</a:t>
            </a:r>
            <a:endParaRPr sz="115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063240" y="1700784"/>
            <a:ext cx="800100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80" b="0" i="0">
                <a:solidFill>
                  <a:srgbClr val="2D3734"/>
                </a:solidFill>
                <a:latin typeface="Aptos"/>
              </a:rPr>
              <a:t>The current implementation is browser-based; no native mobile application is included.</a:t>
            </a:r>
            <a:endParaRPr sz="1080" b="0" i="0">
              <a:solidFill>
                <a:srgbClr val="2D3734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49808" y="2414016"/>
            <a:ext cx="10698480" cy="66751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32688" y="2569464"/>
            <a:ext cx="365760" cy="365760"/>
          </a:xfrm>
          <a:prstGeom prst="roundRect">
            <a:avLst/>
          </a:prstGeom>
          <a:solidFill>
            <a:srgbClr val="FCE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656332"/>
            <a:ext cx="365760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50" b="1" i="0">
                <a:solidFill>
                  <a:srgbClr val="E27B5B"/>
                </a:solidFill>
                <a:latin typeface="Aptos"/>
              </a:rPr>
              <a:t>!</a:t>
            </a:r>
            <a:endParaRPr sz="950" b="1" i="0">
              <a:solidFill>
                <a:srgbClr val="E27B5B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508760" y="2560320"/>
            <a:ext cx="15087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50" b="1" i="0">
                <a:solidFill>
                  <a:srgbClr val="0B5B52"/>
                </a:solidFill>
                <a:latin typeface="Aptos"/>
              </a:rPr>
              <a:t>Offline Sync</a:t>
            </a:r>
            <a:endParaRPr sz="115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063240" y="2542032"/>
            <a:ext cx="800100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80" b="0" i="0">
                <a:solidFill>
                  <a:srgbClr val="2D3734"/>
                </a:solidFill>
                <a:latin typeface="Aptos"/>
              </a:rPr>
              <a:t>Offline entry and synchronization are not claimed as a completed current feature.</a:t>
            </a:r>
            <a:endParaRPr sz="1080" b="0" i="0">
              <a:solidFill>
                <a:srgbClr val="2D3734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49808" y="3255264"/>
            <a:ext cx="10698480" cy="66751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32688" y="3410712"/>
            <a:ext cx="365760" cy="365760"/>
          </a:xfrm>
          <a:prstGeom prst="roundRect">
            <a:avLst/>
          </a:prstGeom>
          <a:solidFill>
            <a:srgbClr val="FCE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3497580"/>
            <a:ext cx="365760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50" b="1" i="0">
                <a:solidFill>
                  <a:srgbClr val="E27B5B"/>
                </a:solidFill>
                <a:latin typeface="Aptos"/>
              </a:rPr>
              <a:t>!</a:t>
            </a:r>
            <a:endParaRPr sz="950" b="1" i="0">
              <a:solidFill>
                <a:srgbClr val="E27B5B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08760" y="3401568"/>
            <a:ext cx="15087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50" b="1" i="0">
                <a:solidFill>
                  <a:srgbClr val="0B5B52"/>
                </a:solidFill>
                <a:latin typeface="Aptos"/>
              </a:rPr>
              <a:t>Local Database</a:t>
            </a:r>
            <a:endParaRPr sz="115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063240" y="3383280"/>
            <a:ext cx="800100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80" b="0" i="0">
                <a:solidFill>
                  <a:srgbClr val="2D3734"/>
                </a:solidFill>
                <a:latin typeface="Aptos"/>
              </a:rPr>
              <a:t>SQLite is suitable for the project environment; production-scale deployment may require a different database setup.</a:t>
            </a:r>
            <a:endParaRPr sz="1080" b="0" i="0">
              <a:solidFill>
                <a:srgbClr val="2D3734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749808" y="4096512"/>
            <a:ext cx="10698480" cy="66751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32688" y="4251960"/>
            <a:ext cx="365760" cy="365760"/>
          </a:xfrm>
          <a:prstGeom prst="roundRect">
            <a:avLst/>
          </a:prstGeom>
          <a:solidFill>
            <a:srgbClr val="FCE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4338828"/>
            <a:ext cx="365760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50" b="1" i="0">
                <a:solidFill>
                  <a:srgbClr val="E27B5B"/>
                </a:solidFill>
                <a:latin typeface="Aptos"/>
              </a:rPr>
              <a:t>!</a:t>
            </a:r>
            <a:endParaRPr sz="950" b="1" i="0">
              <a:solidFill>
                <a:srgbClr val="E27B5B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508760" y="4242816"/>
            <a:ext cx="15087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50" b="1" i="0">
                <a:solidFill>
                  <a:srgbClr val="0B5B52"/>
                </a:solidFill>
                <a:latin typeface="Aptos"/>
              </a:rPr>
              <a:t>No Predictive AI</a:t>
            </a:r>
            <a:endParaRPr sz="115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063240" y="4224528"/>
            <a:ext cx="800100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80" b="0" i="0">
                <a:solidFill>
                  <a:srgbClr val="2D3734"/>
                </a:solidFill>
                <a:latin typeface="Aptos"/>
              </a:rPr>
              <a:t>MARGAM manages healthcare information but does not currently perform AI-based risk prediction.</a:t>
            </a:r>
            <a:endParaRPr sz="1080" b="0" i="0">
              <a:solidFill>
                <a:srgbClr val="2D3734"/>
              </a:solidFill>
              <a:latin typeface="Apto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49808" y="4937760"/>
            <a:ext cx="10698480" cy="66751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32688" y="5093208"/>
            <a:ext cx="365760" cy="365760"/>
          </a:xfrm>
          <a:prstGeom prst="roundRect">
            <a:avLst/>
          </a:prstGeom>
          <a:solidFill>
            <a:srgbClr val="FCE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5180076"/>
            <a:ext cx="365760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50" b="1" i="0">
                <a:solidFill>
                  <a:srgbClr val="E27B5B"/>
                </a:solidFill>
                <a:latin typeface="Aptos"/>
              </a:rPr>
              <a:t>!</a:t>
            </a:r>
            <a:endParaRPr sz="950" b="1" i="0">
              <a:solidFill>
                <a:srgbClr val="E27B5B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508760" y="5084064"/>
            <a:ext cx="15087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50" b="1" i="0">
                <a:solidFill>
                  <a:srgbClr val="0B5B52"/>
                </a:solidFill>
                <a:latin typeface="Aptos"/>
              </a:rPr>
              <a:t>No Clinical Study</a:t>
            </a:r>
            <a:endParaRPr sz="115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063240" y="5065776"/>
            <a:ext cx="800100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80" b="0" i="0">
                <a:solidFill>
                  <a:srgbClr val="2D3734"/>
                </a:solidFill>
                <a:latin typeface="Aptos"/>
              </a:rPr>
              <a:t>The project does not include real-world clinical deployment or measured healthcare outcome data.</a:t>
            </a:r>
            <a:endParaRPr sz="1080" b="0" i="0">
              <a:solidFill>
                <a:srgbClr val="2D3734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58368" y="6537960"/>
            <a:ext cx="457200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50" b="1" i="0">
                <a:solidFill>
                  <a:srgbClr val="646F6B"/>
                </a:solidFill>
                <a:latin typeface="Aptos"/>
              </a:rPr>
              <a:t>MARGAM  •  MCA FINAL YEAR MINI PROJECT</a:t>
            </a:r>
            <a:endParaRPr sz="750" b="1" i="0">
              <a:solidFill>
                <a:srgbClr val="646F6B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1064240" y="6519672"/>
            <a:ext cx="457200" cy="15811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lang="en-US" sz="800" b="1" i="0">
                <a:solidFill>
                  <a:srgbClr val="646F6B"/>
                </a:solidFill>
                <a:latin typeface="Aptos"/>
              </a:rPr>
              <a:t>32</a:t>
            </a:r>
            <a:endParaRPr lang="en-US" sz="800" b="1" i="0">
              <a:solidFill>
                <a:srgbClr val="646F6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5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TextBox 2"/>
          <p:cNvSpPr txBox="1"/>
          <p:nvPr/>
        </p:nvSpPr>
        <p:spPr>
          <a:xfrm>
            <a:off x="685800" y="1143000"/>
            <a:ext cx="10332720" cy="10058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Georgia" panose="02040502050405020303"/>
              </a:rPr>
              <a:t>A unified digital workflow for maternal &amp; child healthcare management.</a:t>
            </a:r>
            <a:endParaRPr sz="3100" b="1" i="0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21" name="TextBox 3"/>
          <p:cNvSpPr txBox="1"/>
          <p:nvPr/>
        </p:nvSpPr>
        <p:spPr>
          <a:xfrm>
            <a:off x="731520" y="2560320"/>
            <a:ext cx="10332720" cy="12344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D2E7E1"/>
                </a:solidFill>
                <a:latin typeface="Aptos"/>
              </a:rPr>
              <a:t>MARGAM brings Government officials, ASHA workers, Doctors and Mothers into one role-based platform. The implemented system combines structured records, vaccination scheduling, appointments, notifications, health information and monitoring features in a single Django application.</a:t>
            </a:r>
            <a:endParaRPr sz="1800" b="0" i="0">
              <a:solidFill>
                <a:srgbClr val="D2E7E1"/>
              </a:solidFill>
              <a:latin typeface="Aptos"/>
            </a:endParaRPr>
          </a:p>
        </p:txBody>
      </p:sp>
      <p:sp>
        <p:nvSpPr>
          <p:cNvPr id="22" name="TextBox 4"/>
          <p:cNvSpPr txBox="1"/>
          <p:nvPr/>
        </p:nvSpPr>
        <p:spPr>
          <a:xfrm>
            <a:off x="731520" y="4343400"/>
            <a:ext cx="9875520" cy="685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ptos"/>
              </a:rPr>
              <a:t>The project provides a practical foundation that can be extended into a larger digital maternal and child healthcare platform.</a:t>
            </a:r>
            <a:endParaRPr sz="17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31520" y="5486400"/>
            <a:ext cx="1325880" cy="310896"/>
          </a:xfrm>
          <a:prstGeom prst="roundRect">
            <a:avLst/>
          </a:prstGeom>
          <a:solidFill>
            <a:srgbClr val="234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6"/>
          <p:cNvSpPr txBox="1"/>
          <p:nvPr/>
        </p:nvSpPr>
        <p:spPr>
          <a:xfrm>
            <a:off x="731520" y="5527548"/>
            <a:ext cx="13258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D2E7E1"/>
                </a:solidFill>
                <a:latin typeface="Aptos"/>
              </a:rPr>
              <a:t>CENTRALIZED</a:t>
            </a:r>
            <a:endParaRPr sz="1000" b="1" i="0">
              <a:solidFill>
                <a:srgbClr val="D2E7E1"/>
              </a:solidFill>
              <a:latin typeface="Apto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2240280" y="5486400"/>
            <a:ext cx="1325880" cy="310896"/>
          </a:xfrm>
          <a:prstGeom prst="roundRect">
            <a:avLst/>
          </a:prstGeom>
          <a:solidFill>
            <a:srgbClr val="234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8"/>
          <p:cNvSpPr txBox="1"/>
          <p:nvPr/>
        </p:nvSpPr>
        <p:spPr>
          <a:xfrm>
            <a:off x="2240280" y="5527548"/>
            <a:ext cx="13258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D2E7E1"/>
                </a:solidFill>
                <a:latin typeface="Aptos"/>
              </a:rPr>
              <a:t>ROLE-BASED</a:t>
            </a:r>
            <a:endParaRPr sz="1000" b="1" i="0">
              <a:solidFill>
                <a:srgbClr val="D2E7E1"/>
              </a:solidFill>
              <a:latin typeface="Aptos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3749039" y="5486400"/>
            <a:ext cx="1234440" cy="310896"/>
          </a:xfrm>
          <a:prstGeom prst="roundRect">
            <a:avLst/>
          </a:prstGeom>
          <a:solidFill>
            <a:srgbClr val="234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10"/>
          <p:cNvSpPr txBox="1"/>
          <p:nvPr/>
        </p:nvSpPr>
        <p:spPr>
          <a:xfrm>
            <a:off x="3749039" y="5527548"/>
            <a:ext cx="123444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D2E7E1"/>
                </a:solidFill>
                <a:latin typeface="Aptos"/>
              </a:rPr>
              <a:t>AUTOMATED</a:t>
            </a:r>
            <a:endParaRPr sz="1000" b="1" i="0">
              <a:solidFill>
                <a:srgbClr val="D2E7E1"/>
              </a:solidFill>
              <a:latin typeface="Aptos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5166360" y="5486400"/>
            <a:ext cx="1234440" cy="310896"/>
          </a:xfrm>
          <a:prstGeom prst="roundRect">
            <a:avLst/>
          </a:prstGeom>
          <a:solidFill>
            <a:srgbClr val="234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12"/>
          <p:cNvSpPr txBox="1"/>
          <p:nvPr/>
        </p:nvSpPr>
        <p:spPr>
          <a:xfrm>
            <a:off x="5166360" y="5527548"/>
            <a:ext cx="123444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D2E7E1"/>
                </a:solidFill>
                <a:latin typeface="Aptos"/>
              </a:rPr>
              <a:t>EXTENSIBLE</a:t>
            </a:r>
            <a:endParaRPr sz="1000" b="1" i="0">
              <a:solidFill>
                <a:srgbClr val="D2E7E1"/>
              </a:solidFill>
              <a:latin typeface="Aptos"/>
            </a:endParaRPr>
          </a:p>
        </p:txBody>
      </p:sp>
      <p:sp>
        <p:nvSpPr>
          <p:cNvPr id="31" name="TextBox 13"/>
          <p:cNvSpPr txBox="1"/>
          <p:nvPr/>
        </p:nvSpPr>
        <p:spPr>
          <a:xfrm>
            <a:off x="594360" y="6565392"/>
            <a:ext cx="43891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50" b="1" i="0">
                <a:solidFill>
                  <a:srgbClr val="5C6865"/>
                </a:solidFill>
                <a:latin typeface="Aptos"/>
              </a:rPr>
              <a:t>MARGAM • MCA FINAL YEAR MINI PROJECT</a:t>
            </a:r>
            <a:endParaRPr sz="750" b="1" i="0">
              <a:solidFill>
                <a:srgbClr val="5C6865"/>
              </a:solidFill>
              <a:latin typeface="Aptos"/>
            </a:endParaRPr>
          </a:p>
        </p:txBody>
      </p:sp>
      <p:sp>
        <p:nvSpPr>
          <p:cNvPr id="32" name="TextBox 14"/>
          <p:cNvSpPr txBox="1"/>
          <p:nvPr/>
        </p:nvSpPr>
        <p:spPr>
          <a:xfrm>
            <a:off x="11064240" y="6537960"/>
            <a:ext cx="502920" cy="15811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lang="en-US" sz="800" b="1" i="0">
                <a:solidFill>
                  <a:srgbClr val="5C6865"/>
                </a:solidFill>
                <a:latin typeface="Aptos"/>
              </a:rPr>
              <a:t>33</a:t>
            </a:r>
            <a:endParaRPr lang="en-US" sz="800" b="1" i="0">
              <a:solidFill>
                <a:srgbClr val="5C6865"/>
              </a:solidFill>
              <a:latin typeface="Aptos"/>
            </a:endParaRPr>
          </a:p>
        </p:txBody>
      </p:sp>
      <p:sp>
        <p:nvSpPr>
          <p:cNvPr id="33" name="TextBox 2"/>
          <p:cNvSpPr txBox="1"/>
          <p:nvPr/>
        </p:nvSpPr>
        <p:spPr>
          <a:xfrm>
            <a:off x="658368" y="502920"/>
            <a:ext cx="1014984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Georgia" panose="02040502050405020303"/>
              </a:rPr>
              <a:t>Conclusion</a:t>
            </a:r>
            <a:endParaRPr sz="2700" b="1" i="0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58368" y="1005967"/>
            <a:ext cx="658368" cy="41148"/>
          </a:xfrm>
          <a:prstGeom prst="rect">
            <a:avLst/>
          </a:prstGeom>
          <a:solidFill>
            <a:srgbClr val="E27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31089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E27B5B"/>
                </a:solidFill>
                <a:latin typeface="Aptos"/>
              </a:rPr>
              <a:t>24  •  NEXT STEP</a:t>
            </a:r>
            <a:endParaRPr sz="950" b="1" i="0">
              <a:solidFill>
                <a:srgbClr val="E27B5B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14984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0B5B52"/>
                </a:solidFill>
                <a:latin typeface="Georgia" panose="02040502050405020303"/>
              </a:rPr>
              <a:t>Future Scope</a:t>
            </a:r>
            <a:endParaRPr sz="2700" b="1" i="0">
              <a:solidFill>
                <a:srgbClr val="0B5B52"/>
              </a:solidFill>
              <a:latin typeface="Georgia" panose="020405020504050203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64240" y="347472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50" b="1" i="0">
                <a:solidFill>
                  <a:srgbClr val="646F6B"/>
                </a:solidFill>
                <a:latin typeface="Aptos"/>
              </a:rPr>
              <a:t>25</a:t>
            </a:r>
            <a:endParaRPr sz="950" b="1" i="0">
              <a:solidFill>
                <a:srgbClr val="646F6B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8368" y="1261872"/>
            <a:ext cx="658368" cy="41148"/>
          </a:xfrm>
          <a:prstGeom prst="rect">
            <a:avLst/>
          </a:prstGeom>
          <a:solidFill>
            <a:srgbClr val="E27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72768"/>
            <a:ext cx="3401568" cy="15727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96112" y="1737360"/>
            <a:ext cx="393192" cy="393192"/>
          </a:xfrm>
          <a:prstGeom prst="ellipse">
            <a:avLst/>
          </a:prstGeom>
          <a:solidFill>
            <a:srgbClr val="D3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33372"/>
            <a:ext cx="393192" cy="128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50" b="1" i="0">
                <a:solidFill>
                  <a:srgbClr val="0B5B52"/>
                </a:solidFill>
                <a:latin typeface="Aptos"/>
              </a:rPr>
              <a:t>→</a:t>
            </a:r>
            <a:endParaRPr sz="85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99032" y="1737360"/>
            <a:ext cx="2551176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50" b="1" i="0">
                <a:solidFill>
                  <a:srgbClr val="0B5B52"/>
                </a:solidFill>
                <a:latin typeface="Aptos"/>
              </a:rPr>
              <a:t>Mobile Application</a:t>
            </a:r>
            <a:endParaRPr sz="145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99032" y="2157984"/>
            <a:ext cx="2551176" cy="8595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70" b="0" i="0">
                <a:solidFill>
                  <a:srgbClr val="2D3734"/>
                </a:solidFill>
                <a:latin typeface="Aptos"/>
              </a:rPr>
              <a:t>Extend the web workflow to Android / iOS.</a:t>
            </a:r>
            <a:endParaRPr sz="1170" b="0" i="0">
              <a:solidFill>
                <a:srgbClr val="2D3734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462272" y="1572768"/>
            <a:ext cx="3401568" cy="15727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26864" y="1737360"/>
            <a:ext cx="393192" cy="393192"/>
          </a:xfrm>
          <a:prstGeom prst="ellipse">
            <a:avLst/>
          </a:prstGeom>
          <a:solidFill>
            <a:srgbClr val="D3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6864" y="1833372"/>
            <a:ext cx="393192" cy="128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50" b="1" i="0">
                <a:solidFill>
                  <a:srgbClr val="0B5B52"/>
                </a:solidFill>
                <a:latin typeface="Aptos"/>
              </a:rPr>
              <a:t>→</a:t>
            </a:r>
            <a:endParaRPr sz="85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129783" y="1737360"/>
            <a:ext cx="2551176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50" b="1" i="0">
                <a:solidFill>
                  <a:srgbClr val="0B5B52"/>
                </a:solidFill>
                <a:latin typeface="Aptos"/>
              </a:rPr>
              <a:t>SMS Alerts</a:t>
            </a:r>
            <a:endParaRPr sz="145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129783" y="2157984"/>
            <a:ext cx="2551176" cy="8595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70" b="0" i="0">
                <a:solidFill>
                  <a:srgbClr val="2D3734"/>
                </a:solidFill>
                <a:latin typeface="Aptos"/>
              </a:rPr>
              <a:t>Support reminders where continuous web access is difficult.</a:t>
            </a:r>
            <a:endParaRPr sz="1170" b="0" i="0">
              <a:solidFill>
                <a:srgbClr val="2D3734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193024" y="1572768"/>
            <a:ext cx="3401568" cy="15727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57616" y="1737360"/>
            <a:ext cx="393192" cy="393192"/>
          </a:xfrm>
          <a:prstGeom prst="ellipse">
            <a:avLst/>
          </a:prstGeom>
          <a:solidFill>
            <a:srgbClr val="D3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7616" y="1833372"/>
            <a:ext cx="393192" cy="128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50" b="1" i="0">
                <a:solidFill>
                  <a:srgbClr val="0B5B52"/>
                </a:solidFill>
                <a:latin typeface="Aptos"/>
              </a:rPr>
              <a:t>→</a:t>
            </a:r>
            <a:endParaRPr sz="85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860536" y="1737360"/>
            <a:ext cx="2551176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50" b="1" i="0">
                <a:solidFill>
                  <a:srgbClr val="0B5B52"/>
                </a:solidFill>
                <a:latin typeface="Aptos"/>
              </a:rPr>
              <a:t>AI-Assisted Risk Prediction</a:t>
            </a:r>
            <a:endParaRPr sz="145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860536" y="2157984"/>
            <a:ext cx="2551176" cy="8595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70" b="0" i="0">
                <a:solidFill>
                  <a:srgbClr val="2D3734"/>
                </a:solidFill>
                <a:latin typeface="Aptos"/>
              </a:rPr>
              <a:t>Explore models for identifying potential health risks.</a:t>
            </a:r>
            <a:endParaRPr sz="1170" b="0" i="0">
              <a:solidFill>
                <a:srgbClr val="2D3734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731520" y="3538728"/>
            <a:ext cx="3401568" cy="15727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96112" y="3703320"/>
            <a:ext cx="393192" cy="393192"/>
          </a:xfrm>
          <a:prstGeom prst="ellipse">
            <a:avLst/>
          </a:prstGeom>
          <a:solidFill>
            <a:srgbClr val="D3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3799332"/>
            <a:ext cx="393192" cy="128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50" b="1" i="0">
                <a:solidFill>
                  <a:srgbClr val="0B5B52"/>
                </a:solidFill>
                <a:latin typeface="Aptos"/>
              </a:rPr>
              <a:t>→</a:t>
            </a:r>
            <a:endParaRPr sz="85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399032" y="3703320"/>
            <a:ext cx="2551176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50" b="1" i="0">
                <a:solidFill>
                  <a:srgbClr val="0B5B52"/>
                </a:solidFill>
                <a:latin typeface="Aptos"/>
              </a:rPr>
              <a:t>GPS Field Monitoring</a:t>
            </a:r>
            <a:endParaRPr sz="145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399032" y="4123944"/>
            <a:ext cx="2551176" cy="8595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70" b="0" i="0">
                <a:solidFill>
                  <a:srgbClr val="2D3734"/>
                </a:solidFill>
                <a:latin typeface="Aptos"/>
              </a:rPr>
              <a:t>Support location-aware ASHA worker coordination.</a:t>
            </a:r>
            <a:endParaRPr sz="1170" b="0" i="0">
              <a:solidFill>
                <a:srgbClr val="2D3734"/>
              </a:solidFill>
              <a:latin typeface="Apto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462272" y="3538728"/>
            <a:ext cx="3401568" cy="15727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26864" y="3703320"/>
            <a:ext cx="393192" cy="393192"/>
          </a:xfrm>
          <a:prstGeom prst="ellipse">
            <a:avLst/>
          </a:prstGeom>
          <a:solidFill>
            <a:srgbClr val="D3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26864" y="3799332"/>
            <a:ext cx="393192" cy="128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50" b="1" i="0">
                <a:solidFill>
                  <a:srgbClr val="0B5B52"/>
                </a:solidFill>
                <a:latin typeface="Aptos"/>
              </a:rPr>
              <a:t>→</a:t>
            </a:r>
            <a:endParaRPr sz="85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129783" y="3703320"/>
            <a:ext cx="2551176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50" b="1" i="0">
                <a:solidFill>
                  <a:srgbClr val="0B5B52"/>
                </a:solidFill>
                <a:latin typeface="Aptos"/>
              </a:rPr>
              <a:t>Wearable Integration</a:t>
            </a:r>
            <a:endParaRPr sz="145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129783" y="4123944"/>
            <a:ext cx="2551176" cy="8595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70" b="0" i="0">
                <a:solidFill>
                  <a:srgbClr val="2D3734"/>
                </a:solidFill>
                <a:latin typeface="Aptos"/>
              </a:rPr>
              <a:t>Capture selected health measurements from supported devices.</a:t>
            </a:r>
            <a:endParaRPr sz="1170" b="0" i="0">
              <a:solidFill>
                <a:srgbClr val="2D3734"/>
              </a:solidFill>
              <a:latin typeface="Aptos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8193024" y="3538728"/>
            <a:ext cx="3401568" cy="15727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57616" y="3703320"/>
            <a:ext cx="393192" cy="393192"/>
          </a:xfrm>
          <a:prstGeom prst="ellipse">
            <a:avLst/>
          </a:prstGeom>
          <a:solidFill>
            <a:srgbClr val="D3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57616" y="3799332"/>
            <a:ext cx="393192" cy="128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50" b="1" i="0">
                <a:solidFill>
                  <a:srgbClr val="0B5B52"/>
                </a:solidFill>
                <a:latin typeface="Aptos"/>
              </a:rPr>
              <a:t>→</a:t>
            </a:r>
            <a:endParaRPr sz="85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860536" y="3703320"/>
            <a:ext cx="2551176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50" b="1" i="0">
                <a:solidFill>
                  <a:srgbClr val="0B5B52"/>
                </a:solidFill>
                <a:latin typeface="Aptos"/>
              </a:rPr>
              <a:t>Offline Synchronization</a:t>
            </a:r>
            <a:endParaRPr sz="1450" b="1" i="0">
              <a:solidFill>
                <a:srgbClr val="0B5B52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860536" y="4123944"/>
            <a:ext cx="2551176" cy="8595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70" b="0" i="0">
                <a:solidFill>
                  <a:srgbClr val="2D3734"/>
                </a:solidFill>
                <a:latin typeface="Aptos"/>
              </a:rPr>
              <a:t>Allow local entry and synchronization when connectivity returns.</a:t>
            </a:r>
            <a:endParaRPr sz="1170" b="0" i="0">
              <a:solidFill>
                <a:srgbClr val="2D3734"/>
              </a:solidFill>
              <a:latin typeface="Apto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58368" y="6537960"/>
            <a:ext cx="457200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50" b="1" i="0">
                <a:solidFill>
                  <a:srgbClr val="646F6B"/>
                </a:solidFill>
                <a:latin typeface="Aptos"/>
              </a:rPr>
              <a:t>MARGAM  •  MCA FINAL YEAR MINI PROJECT</a:t>
            </a:r>
            <a:endParaRPr sz="750" b="1" i="0">
              <a:solidFill>
                <a:srgbClr val="646F6B"/>
              </a:solidFill>
              <a:latin typeface="Apto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1064240" y="6519672"/>
            <a:ext cx="457200" cy="15811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lang="en-US" sz="800" b="1" i="0">
                <a:solidFill>
                  <a:srgbClr val="646F6B"/>
                </a:solidFill>
                <a:latin typeface="Aptos"/>
              </a:rPr>
              <a:t>34</a:t>
            </a:r>
            <a:endParaRPr lang="en-US" sz="800" b="1" i="0">
              <a:solidFill>
                <a:srgbClr val="646F6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31089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E27B5B"/>
                </a:solidFill>
                <a:latin typeface="Aptos"/>
              </a:rPr>
              <a:t>25  •  SOURCES</a:t>
            </a:r>
            <a:endParaRPr sz="950" b="1" i="0">
              <a:solidFill>
                <a:srgbClr val="E27B5B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14984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0B5B52"/>
                </a:solidFill>
                <a:latin typeface="Georgia" panose="02040502050405020303"/>
              </a:rPr>
              <a:t>References</a:t>
            </a:r>
            <a:endParaRPr sz="2700" b="1" i="0">
              <a:solidFill>
                <a:srgbClr val="0B5B52"/>
              </a:solidFill>
              <a:latin typeface="Georgia" panose="020405020504050203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64240" y="347472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50" b="1" i="0">
                <a:solidFill>
                  <a:srgbClr val="646F6B"/>
                </a:solidFill>
                <a:latin typeface="Aptos"/>
              </a:rPr>
              <a:t>26</a:t>
            </a:r>
            <a:endParaRPr sz="950" b="1" i="0">
              <a:solidFill>
                <a:srgbClr val="646F6B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8368" y="1261872"/>
            <a:ext cx="658368" cy="41148"/>
          </a:xfrm>
          <a:prstGeom prst="rect">
            <a:avLst/>
          </a:prstGeom>
          <a:solidFill>
            <a:srgbClr val="E27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0561320" cy="3931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80" b="0" i="0">
                <a:solidFill>
                  <a:srgbClr val="2D3734"/>
                </a:solidFill>
                <a:latin typeface="Aptos"/>
              </a:rPr>
              <a:t>[1] O. Salawu, “Implementation of Web-Based Architecture for Child Immunization Information Management System Integrated with SMS Reminder,” 2021.</a:t>
            </a:r>
            <a:endParaRPr sz="1080" b="0" i="0">
              <a:solidFill>
                <a:srgbClr val="2D3734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10561320" cy="3931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80" b="0" i="0">
                <a:solidFill>
                  <a:srgbClr val="2D3734"/>
                </a:solidFill>
                <a:latin typeface="Aptos"/>
              </a:rPr>
              <a:t>[2] A. A. Alnssayan et al., “VacChain: A Blockchain-Based EMR System to Manage Child Vaccination Records,” 2022.</a:t>
            </a:r>
            <a:endParaRPr sz="1080" b="0" i="0">
              <a:solidFill>
                <a:srgbClr val="2D3734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10561320" cy="3931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80" b="0" i="0">
                <a:solidFill>
                  <a:srgbClr val="2D3734"/>
                </a:solidFill>
                <a:latin typeface="Aptos"/>
              </a:rPr>
              <a:t>[3] K. Acharya, “Vaccine Management System Project Report,” 2023.</a:t>
            </a:r>
            <a:endParaRPr sz="1080" b="0" i="0">
              <a:solidFill>
                <a:srgbClr val="2D3734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3017520"/>
            <a:ext cx="10561320" cy="3931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80" b="0" i="0">
                <a:solidFill>
                  <a:srgbClr val="2D3734"/>
                </a:solidFill>
                <a:latin typeface="Aptos"/>
              </a:rPr>
              <a:t>[4] M. Geldof, N. Gerlach, and A. Portela, “Digitalization of Home-Based Records for Maternal, Newborn, and Child Health,” 2023.</a:t>
            </a:r>
            <a:endParaRPr sz="1080" b="0" i="0">
              <a:solidFill>
                <a:srgbClr val="2D3734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3520440"/>
            <a:ext cx="10561320" cy="3931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80" b="0" i="0">
                <a:solidFill>
                  <a:srgbClr val="2D3734"/>
                </a:solidFill>
                <a:latin typeface="Aptos"/>
              </a:rPr>
              <a:t>[5] A. Aliyi, B. Mesfin, F. Hassen, et al., “Antenatal Care Management Platform,” 2023.</a:t>
            </a:r>
            <a:endParaRPr sz="1080" b="0" i="0">
              <a:solidFill>
                <a:srgbClr val="2D3734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" y="4023360"/>
            <a:ext cx="10561320" cy="3931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80" b="0" i="0">
                <a:solidFill>
                  <a:srgbClr val="2D3734"/>
                </a:solidFill>
                <a:latin typeface="Aptos"/>
              </a:rPr>
              <a:t>[6] S. Till et al., “Digital Health Technologies for Maternal and Child Health,” 2023.</a:t>
            </a:r>
            <a:endParaRPr sz="1080" b="0" i="0">
              <a:solidFill>
                <a:srgbClr val="2D3734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60" y="4526280"/>
            <a:ext cx="10561320" cy="3931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80" b="0" i="0">
                <a:solidFill>
                  <a:srgbClr val="2D3734"/>
                </a:solidFill>
                <a:latin typeface="Aptos"/>
              </a:rPr>
              <a:t>[7] R. Kajale, N. Shaikh, and G. Nagendre, “Vaccidoc: Child Vaccination Management System,” 2025.</a:t>
            </a:r>
            <a:endParaRPr sz="1080" b="0" i="0">
              <a:solidFill>
                <a:srgbClr val="2D3734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2960" y="5029200"/>
            <a:ext cx="10561320" cy="3931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80" b="0" i="0">
                <a:solidFill>
                  <a:srgbClr val="2D3734"/>
                </a:solidFill>
                <a:latin typeface="Aptos"/>
              </a:rPr>
              <a:t>[8] T. Ajayi, “Digital Health Platform for Maternal Health,” 2025.</a:t>
            </a:r>
            <a:endParaRPr sz="1080" b="0" i="0">
              <a:solidFill>
                <a:srgbClr val="2D3734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6144768"/>
            <a:ext cx="1060704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80" b="0" i="1">
                <a:solidFill>
                  <a:srgbClr val="646F6B"/>
                </a:solidFill>
                <a:latin typeface="Aptos"/>
              </a:rPr>
              <a:t>Reference details are formatted from the bibliographic information available in the supplied project materials.</a:t>
            </a:r>
            <a:endParaRPr sz="880" b="0" i="1">
              <a:solidFill>
                <a:srgbClr val="646F6B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8368" y="6537960"/>
            <a:ext cx="457200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50" b="1" i="0">
                <a:solidFill>
                  <a:srgbClr val="646F6B"/>
                </a:solidFill>
                <a:latin typeface="Aptos"/>
              </a:rPr>
              <a:t>MARGAM  •  MCA FINAL YEAR MINI PROJECT</a:t>
            </a:r>
            <a:endParaRPr sz="750" b="1" i="0">
              <a:solidFill>
                <a:srgbClr val="646F6B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064240" y="6519672"/>
            <a:ext cx="457200" cy="15811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lang="en-US" sz="800" b="1" i="0">
                <a:solidFill>
                  <a:srgbClr val="646F6B"/>
                </a:solidFill>
                <a:latin typeface="Aptos"/>
              </a:rPr>
              <a:t>35</a:t>
            </a:r>
            <a:endParaRPr lang="en-US" sz="800" b="1" i="0">
              <a:solidFill>
                <a:srgbClr val="646F6B"/>
              </a:solidFill>
              <a:latin typeface="Aptos"/>
            </a:endParaRPr>
          </a:p>
        </p:txBody>
      </p:sp>
      <p:sp>
        <p:nvSpPr>
          <p:cNvPr id="18" name="TextBox 5"/>
          <p:cNvSpPr txBox="1"/>
          <p:nvPr/>
        </p:nvSpPr>
        <p:spPr>
          <a:xfrm>
            <a:off x="822960" y="5422265"/>
            <a:ext cx="10561320" cy="2012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80" b="0" i="0">
                <a:solidFill>
                  <a:srgbClr val="2D3734"/>
                </a:solidFill>
                <a:latin typeface="Aptos"/>
              </a:rPr>
              <a:t>[</a:t>
            </a:r>
            <a:r>
              <a:rPr lang="en-IN" sz="1080" b="0" i="0">
                <a:solidFill>
                  <a:srgbClr val="2D3734"/>
                </a:solidFill>
                <a:latin typeface="Aptos"/>
              </a:rPr>
              <a:t>9</a:t>
            </a:r>
            <a:r>
              <a:rPr sz="1080" b="0" i="0">
                <a:solidFill>
                  <a:srgbClr val="2D3734"/>
                </a:solidFill>
                <a:latin typeface="Aptos"/>
              </a:rPr>
              <a:t>] O. </a:t>
            </a:r>
            <a:r>
              <a:rPr lang="en-US" altLang="en-US" sz="1080" b="0" i="0">
                <a:solidFill>
                  <a:srgbClr val="2D3734"/>
                </a:solidFill>
                <a:latin typeface="Aptos"/>
              </a:rPr>
              <a:t>Kavitha et al.</a:t>
            </a:r>
            <a:r>
              <a:rPr lang="en-IN" altLang="en-US" sz="1080" b="0" i="0">
                <a:solidFill>
                  <a:srgbClr val="2D3734"/>
                </a:solidFill>
                <a:latin typeface="Aptos"/>
              </a:rPr>
              <a:t> </a:t>
            </a:r>
            <a:r>
              <a:rPr sz="1080" b="0" i="0">
                <a:solidFill>
                  <a:srgbClr val="2D3734"/>
                </a:solidFill>
                <a:latin typeface="Aptos"/>
              </a:rPr>
              <a:t>“</a:t>
            </a:r>
            <a:r>
              <a:rPr lang="en-US" altLang="en-US" sz="1080" b="0" i="0">
                <a:solidFill>
                  <a:srgbClr val="2D3734"/>
                </a:solidFill>
                <a:latin typeface="Aptos"/>
              </a:rPr>
              <a:t>Maternal and Child Vaccination System (2025)</a:t>
            </a:r>
            <a:r>
              <a:rPr lang="en-IN" altLang="en-US" sz="1080" b="0" i="0">
                <a:solidFill>
                  <a:srgbClr val="2D3734"/>
                </a:solidFill>
                <a:latin typeface="Aptos"/>
              </a:rPr>
              <a:t>,</a:t>
            </a:r>
            <a:r>
              <a:rPr sz="1080" b="0" i="0">
                <a:solidFill>
                  <a:srgbClr val="2D3734"/>
                </a:solidFill>
                <a:latin typeface="Aptos"/>
              </a:rPr>
              <a:t>” 202</a:t>
            </a:r>
            <a:r>
              <a:rPr lang="en-IN" sz="1080" b="0" i="0">
                <a:solidFill>
                  <a:srgbClr val="2D3734"/>
                </a:solidFill>
                <a:latin typeface="Aptos"/>
              </a:rPr>
              <a:t>5</a:t>
            </a:r>
            <a:r>
              <a:rPr sz="1080" b="0" i="0">
                <a:solidFill>
                  <a:srgbClr val="2D3734"/>
                </a:solidFill>
                <a:latin typeface="Aptos"/>
              </a:rPr>
              <a:t>.</a:t>
            </a:r>
            <a:endParaRPr sz="1080" b="0" i="0">
              <a:solidFill>
                <a:srgbClr val="2D373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3337560" y="4645152"/>
            <a:ext cx="5532120" cy="6217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3400" b="1" i="0">
                <a:solidFill>
                  <a:srgbClr val="0B5B52"/>
                </a:solidFill>
                <a:latin typeface="Georgia" panose="02040502050405020303"/>
              </a:rPr>
              <a:t>Thank You</a:t>
            </a:r>
            <a:endParaRPr sz="3400" b="1" i="0">
              <a:solidFill>
                <a:srgbClr val="0B5B52"/>
              </a:solidFill>
              <a:latin typeface="Georgia" panose="020405020504050203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166360" y="5413248"/>
            <a:ext cx="1828800" cy="41148"/>
          </a:xfrm>
          <a:prstGeom prst="rect">
            <a:avLst/>
          </a:prstGeom>
          <a:solidFill>
            <a:srgbClr val="E27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0" y="5650992"/>
            <a:ext cx="484632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 i="0">
                <a:solidFill>
                  <a:srgbClr val="E27B5B"/>
                </a:solidFill>
                <a:latin typeface="Aptos"/>
              </a:rPr>
              <a:t>Questions &amp; Discussion</a:t>
            </a:r>
            <a:endParaRPr sz="1500" b="1" i="0">
              <a:solidFill>
                <a:srgbClr val="E27B5B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31720" y="6144768"/>
            <a:ext cx="75438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20" b="1" i="0">
                <a:solidFill>
                  <a:srgbClr val="646F6B"/>
                </a:solidFill>
                <a:latin typeface="Aptos"/>
              </a:rPr>
              <a:t>MARGAM  •  Maternal Assistance for Rural Guidance And Monitoring</a:t>
            </a:r>
            <a:endParaRPr sz="920" b="1" i="0">
              <a:solidFill>
                <a:srgbClr val="646F6B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8368" y="6537960"/>
            <a:ext cx="457200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50" b="1" i="0">
                <a:solidFill>
                  <a:srgbClr val="646F6B"/>
                </a:solidFill>
                <a:latin typeface="Aptos"/>
              </a:rPr>
              <a:t>MARGAM  •  MCA FINAL YEAR MINI PROJECT</a:t>
            </a:r>
            <a:endParaRPr sz="750" b="1" i="0">
              <a:solidFill>
                <a:srgbClr val="646F6B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064240" y="6519672"/>
            <a:ext cx="457200" cy="15811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lang="en-US" sz="800" b="1" i="0">
                <a:solidFill>
                  <a:srgbClr val="646F6B"/>
                </a:solidFill>
                <a:latin typeface="Aptos"/>
              </a:rPr>
              <a:t>36</a:t>
            </a:r>
            <a:endParaRPr lang="en-US" sz="800" b="1" i="0">
              <a:solidFill>
                <a:srgbClr val="646F6B"/>
              </a:solidFill>
              <a:latin typeface="Aptos"/>
            </a:endParaRPr>
          </a:p>
        </p:txBody>
      </p:sp>
      <p:pic>
        <p:nvPicPr>
          <p:cNvPr id="9" name="Picture 8" descr="margam_logo_transparen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62272" y="658368"/>
            <a:ext cx="3246120" cy="3794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15725</Words>
  <Application>WPS Presentation</Application>
  <PresentationFormat>On-screen Show (4:3)</PresentationFormat>
  <Paragraphs>1082</Paragraphs>
  <Slides>36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53" baseType="lpstr">
      <vt:lpstr>Arial</vt:lpstr>
      <vt:lpstr>SimSun</vt:lpstr>
      <vt:lpstr>Wingdings</vt:lpstr>
      <vt:lpstr>Arial</vt:lpstr>
      <vt:lpstr>Cambria</vt:lpstr>
      <vt:lpstr>Aptos</vt:lpstr>
      <vt:lpstr>Segoe UI</vt:lpstr>
      <vt:lpstr>Georgia</vt:lpstr>
      <vt:lpstr>Calibri</vt:lpstr>
      <vt:lpstr>Microsoft YaHei</vt:lpstr>
      <vt:lpstr>Arial Unicode MS</vt:lpstr>
      <vt:lpstr>Georgia</vt:lpstr>
      <vt:lpstr>Georgia</vt:lpstr>
      <vt:lpstr>Georgia</vt:lpstr>
      <vt:lpstr>Calibri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Melbin K Madhu</cp:lastModifiedBy>
  <cp:revision>20</cp:revision>
  <dcterms:created xsi:type="dcterms:W3CDTF">2013-01-27T09:14:00Z</dcterms:created>
  <dcterms:modified xsi:type="dcterms:W3CDTF">2026-10-07T22:35:54Z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96C185708C5848179D6216977F6B0E13_12</vt:lpwstr>
  </property>
</Properties>
</file>